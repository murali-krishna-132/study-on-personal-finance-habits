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Garamond"/>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jxOokFXaoNxo3UABf531qujJ8V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Garamond-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Garamond-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Garamond-bold.fntdata"/><Relationship Id="rId6" Type="http://schemas.openxmlformats.org/officeDocument/2006/relationships/slide" Target="slides/slide2.xml"/><Relationship Id="rId18" Type="http://schemas.openxmlformats.org/officeDocument/2006/relationships/font" Target="fonts/Garamond-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pic>
        <p:nvPicPr>
          <p:cNvPr descr="HD-PanelTitle-GrommetsCombined.png" id="17" name="Google Shape;17;p1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8" name="Google Shape;18;p15"/>
          <p:cNvSpPr txBox="1"/>
          <p:nvPr>
            <p:ph type="ctrTitle"/>
          </p:nvPr>
        </p:nvSpPr>
        <p:spPr>
          <a:xfrm>
            <a:off x="2692398" y="1871131"/>
            <a:ext cx="6815669" cy="151553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5400"/>
              <a:buFont typeface="Garamond"/>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 type="subTitle"/>
          </p:nvPr>
        </p:nvSpPr>
        <p:spPr>
          <a:xfrm>
            <a:off x="2692398" y="3657597"/>
            <a:ext cx="6815669" cy="1320802"/>
          </a:xfrm>
          <a:prstGeom prst="rect">
            <a:avLst/>
          </a:prstGeom>
          <a:noFill/>
          <a:ln>
            <a:noFill/>
          </a:ln>
        </p:spPr>
        <p:txBody>
          <a:bodyPr anchorCtr="0" anchor="t" bIns="45700" lIns="91425" spcFirstLastPara="1" rIns="91425" wrap="square" tIns="45700">
            <a:norm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p:txBody>
      </p:sp>
      <p:sp>
        <p:nvSpPr>
          <p:cNvPr id="20" name="Google Shape;20;p15"/>
          <p:cNvSpPr txBox="1"/>
          <p:nvPr>
            <p:ph idx="10" type="dt"/>
          </p:nvPr>
        </p:nvSpPr>
        <p:spPr>
          <a:xfrm>
            <a:off x="7983232" y="5037663"/>
            <a:ext cx="897467"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1" type="ftr"/>
          </p:nvPr>
        </p:nvSpPr>
        <p:spPr>
          <a:xfrm>
            <a:off x="2692397" y="5037663"/>
            <a:ext cx="5214635"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5"/>
          <p:cNvSpPr txBox="1"/>
          <p:nvPr>
            <p:ph idx="12" type="sldNum"/>
          </p:nvPr>
        </p:nvSpPr>
        <p:spPr>
          <a:xfrm>
            <a:off x="8956900" y="5037663"/>
            <a:ext cx="55116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3" name="Google Shape;23;p15"/>
          <p:cNvCxnSpPr/>
          <p:nvPr/>
        </p:nvCxnSpPr>
        <p:spPr>
          <a:xfrm>
            <a:off x="2692399" y="3522131"/>
            <a:ext cx="681566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cxnSp>
        <p:nvCxnSpPr>
          <p:cNvPr id="25" name="Google Shape;25;p16"/>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
        <p:nvSpPr>
          <p:cNvPr id="26" name="Google Shape;26;p16"/>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28" name="Google Shape;28;p1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cxnSp>
        <p:nvCxnSpPr>
          <p:cNvPr id="32" name="Google Shape;32;p17"/>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
        <p:nvSpPr>
          <p:cNvPr id="33" name="Google Shape;33;p1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7"/>
          <p:cNvSpPr txBox="1"/>
          <p:nvPr>
            <p:ph idx="1" type="body"/>
          </p:nvPr>
        </p:nvSpPr>
        <p:spPr>
          <a:xfrm>
            <a:off x="1298448" y="2560320"/>
            <a:ext cx="4718304" cy="3310128"/>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35" name="Google Shape;35;p17"/>
          <p:cNvSpPr txBox="1"/>
          <p:nvPr>
            <p:ph idx="2" type="body"/>
          </p:nvPr>
        </p:nvSpPr>
        <p:spPr>
          <a:xfrm>
            <a:off x="6181344" y="2560320"/>
            <a:ext cx="4718304" cy="3310128"/>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36" name="Google Shape;36;p1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18"/>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4" name="Google Shape;44;p18"/>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19"/>
          <p:cNvSpPr txBox="1"/>
          <p:nvPr>
            <p:ph type="title"/>
          </p:nvPr>
        </p:nvSpPr>
        <p:spPr>
          <a:xfrm>
            <a:off x="2015069" y="1752606"/>
            <a:ext cx="8158688" cy="1822514"/>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4400"/>
              <a:buFont typeface="Garamond"/>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 type="body"/>
          </p:nvPr>
        </p:nvSpPr>
        <p:spPr>
          <a:xfrm>
            <a:off x="2015067" y="3846051"/>
            <a:ext cx="8158690" cy="954547"/>
          </a:xfrm>
          <a:prstGeom prst="rect">
            <a:avLst/>
          </a:prstGeom>
          <a:noFill/>
          <a:ln>
            <a:noFill/>
          </a:ln>
        </p:spPr>
        <p:txBody>
          <a:bodyPr anchorCtr="0" anchor="t" bIns="45700" lIns="91425" spcFirstLastPara="1" rIns="91425" wrap="square" tIns="45700">
            <a:normAutofit/>
          </a:bodyPr>
          <a:lstStyle>
            <a:lvl1pPr indent="-228600" lvl="0" marL="457200" algn="ctr">
              <a:spcBef>
                <a:spcPts val="48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48" name="Google Shape;48;p1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51" name="Google Shape;51;p19"/>
          <p:cNvCxnSpPr/>
          <p:nvPr/>
        </p:nvCxnSpPr>
        <p:spPr>
          <a:xfrm>
            <a:off x="2012723" y="3710585"/>
            <a:ext cx="8163380"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2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 type="body"/>
          </p:nvPr>
        </p:nvSpPr>
        <p:spPr>
          <a:xfrm>
            <a:off x="1295400"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55" name="Google Shape;55;p20"/>
          <p:cNvSpPr txBox="1"/>
          <p:nvPr>
            <p:ph idx="2" type="body"/>
          </p:nvPr>
        </p:nvSpPr>
        <p:spPr>
          <a:xfrm>
            <a:off x="1295400"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6" name="Google Shape;56;p20"/>
          <p:cNvSpPr txBox="1"/>
          <p:nvPr>
            <p:ph idx="3" type="body"/>
          </p:nvPr>
        </p:nvSpPr>
        <p:spPr>
          <a:xfrm>
            <a:off x="6180671"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57" name="Google Shape;57;p20"/>
          <p:cNvSpPr txBox="1"/>
          <p:nvPr>
            <p:ph idx="4" type="body"/>
          </p:nvPr>
        </p:nvSpPr>
        <p:spPr>
          <a:xfrm>
            <a:off x="6180671"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8" name="Google Shape;58;p2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61" name="Google Shape;61;p20"/>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2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22"/>
          <p:cNvSpPr txBox="1"/>
          <p:nvPr>
            <p:ph type="title"/>
          </p:nvPr>
        </p:nvSpPr>
        <p:spPr>
          <a:xfrm>
            <a:off x="1293811" y="1388534"/>
            <a:ext cx="3718455"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Garamond"/>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2"/>
          <p:cNvSpPr txBox="1"/>
          <p:nvPr>
            <p:ph idx="1" type="body"/>
          </p:nvPr>
        </p:nvSpPr>
        <p:spPr>
          <a:xfrm>
            <a:off x="5418668" y="982131"/>
            <a:ext cx="5469466" cy="4893735"/>
          </a:xfrm>
          <a:prstGeom prst="rect">
            <a:avLst/>
          </a:prstGeom>
          <a:noFill/>
          <a:ln>
            <a:noFill/>
          </a:ln>
        </p:spPr>
        <p:txBody>
          <a:bodyPr anchorCtr="0" anchor="ctr"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69" name="Google Shape;69;p22"/>
          <p:cNvSpPr txBox="1"/>
          <p:nvPr>
            <p:ph idx="2" type="body"/>
          </p:nvPr>
        </p:nvSpPr>
        <p:spPr>
          <a:xfrm>
            <a:off x="1293811" y="3031065"/>
            <a:ext cx="3718455" cy="2438404"/>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840"/>
              <a:buNone/>
              <a:defRPr sz="16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70" name="Google Shape;70;p22"/>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2"/>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3" name="Google Shape;73;p22"/>
          <p:cNvCxnSpPr/>
          <p:nvPr/>
        </p:nvCxnSpPr>
        <p:spPr>
          <a:xfrm>
            <a:off x="1396169" y="2912533"/>
            <a:ext cx="35144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23"/>
          <p:cNvSpPr txBox="1"/>
          <p:nvPr>
            <p:ph type="title"/>
          </p:nvPr>
        </p:nvSpPr>
        <p:spPr>
          <a:xfrm>
            <a:off x="1295399" y="1883832"/>
            <a:ext cx="6241816"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800"/>
              <a:buFont typeface="Garamond"/>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3"/>
          <p:cNvSpPr/>
          <p:nvPr>
            <p:ph idx="2" type="pic"/>
          </p:nvPr>
        </p:nvSpPr>
        <p:spPr>
          <a:xfrm>
            <a:off x="8094831" y="1041400"/>
            <a:ext cx="3063347" cy="4775200"/>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77" name="Google Shape;77;p23"/>
          <p:cNvSpPr txBox="1"/>
          <p:nvPr>
            <p:ph idx="1" type="body"/>
          </p:nvPr>
        </p:nvSpPr>
        <p:spPr>
          <a:xfrm>
            <a:off x="1295399" y="3255432"/>
            <a:ext cx="6241816" cy="18288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SzPts val="2070"/>
              <a:buNone/>
              <a:defRPr sz="18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78" name="Google Shape;78;p23"/>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3"/>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1" name="Shape 81"/>
        <p:cNvGrpSpPr/>
        <p:nvPr/>
      </p:nvGrpSpPr>
      <p:grpSpPr>
        <a:xfrm>
          <a:off x="0" y="0"/>
          <a:ext cx="0" cy="0"/>
          <a:chOff x="0" y="0"/>
          <a:chExt cx="0" cy="0"/>
        </a:xfrm>
      </p:grpSpPr>
      <p:sp>
        <p:nvSpPr>
          <p:cNvPr id="82" name="Google Shape;82;p24"/>
          <p:cNvSpPr txBox="1"/>
          <p:nvPr>
            <p:ph type="title"/>
          </p:nvPr>
        </p:nvSpPr>
        <p:spPr>
          <a:xfrm>
            <a:off x="1295401" y="4815415"/>
            <a:ext cx="9609666"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Garamond"/>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4"/>
          <p:cNvSpPr/>
          <p:nvPr>
            <p:ph idx="2" type="pic"/>
          </p:nvPr>
        </p:nvSpPr>
        <p:spPr>
          <a:xfrm>
            <a:off x="1041427" y="1041399"/>
            <a:ext cx="10105972" cy="3335869"/>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84" name="Google Shape;84;p24"/>
          <p:cNvSpPr txBox="1"/>
          <p:nvPr>
            <p:ph idx="1" type="body"/>
          </p:nvPr>
        </p:nvSpPr>
        <p:spPr>
          <a:xfrm>
            <a:off x="1295401" y="5382153"/>
            <a:ext cx="9609666" cy="493712"/>
          </a:xfrm>
          <a:prstGeom prst="rect">
            <a:avLst/>
          </a:prstGeom>
          <a:noFill/>
          <a:ln>
            <a:noFill/>
          </a:ln>
        </p:spPr>
        <p:txBody>
          <a:bodyPr anchorCtr="0" anchor="t" bIns="45700" lIns="91425" spcFirstLastPara="1" rIns="91425" wrap="square" tIns="45700">
            <a:normAutofit/>
          </a:bodyPr>
          <a:lstStyle>
            <a:lvl1pPr indent="-228600" lvl="0" marL="457200" algn="ctr">
              <a:spcBef>
                <a:spcPts val="280"/>
              </a:spcBef>
              <a:spcAft>
                <a:spcPts val="0"/>
              </a:spcAft>
              <a:buSzPts val="1610"/>
              <a:buNone/>
              <a:defRPr sz="14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85" name="Google Shape;85;p2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8" name="Shape 88"/>
        <p:cNvGrpSpPr/>
        <p:nvPr/>
      </p:nvGrpSpPr>
      <p:grpSpPr>
        <a:xfrm>
          <a:off x="0" y="0"/>
          <a:ext cx="0" cy="0"/>
          <a:chOff x="0" y="0"/>
          <a:chExt cx="0" cy="0"/>
        </a:xfrm>
      </p:grpSpPr>
      <p:sp>
        <p:nvSpPr>
          <p:cNvPr id="89" name="Google Shape;89;p25"/>
          <p:cNvSpPr txBox="1"/>
          <p:nvPr>
            <p:ph type="title"/>
          </p:nvPr>
        </p:nvSpPr>
        <p:spPr>
          <a:xfrm>
            <a:off x="1303868" y="982132"/>
            <a:ext cx="9592732" cy="29548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3200"/>
              <a:buFont typeface="Garamond"/>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5"/>
          <p:cNvSpPr txBox="1"/>
          <p:nvPr>
            <p:ph idx="1" type="body"/>
          </p:nvPr>
        </p:nvSpPr>
        <p:spPr>
          <a:xfrm>
            <a:off x="1303868" y="4343399"/>
            <a:ext cx="9592732"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91" name="Google Shape;91;p2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94" name="Google Shape;94;p25"/>
          <p:cNvCxnSpPr/>
          <p:nvPr/>
        </p:nvCxnSpPr>
        <p:spPr>
          <a:xfrm>
            <a:off x="1396169" y="4140199"/>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5" name="Shape 95"/>
        <p:cNvGrpSpPr/>
        <p:nvPr/>
      </p:nvGrpSpPr>
      <p:grpSpPr>
        <a:xfrm>
          <a:off x="0" y="0"/>
          <a:ext cx="0" cy="0"/>
          <a:chOff x="0" y="0"/>
          <a:chExt cx="0" cy="0"/>
        </a:xfrm>
      </p:grpSpPr>
      <p:sp>
        <p:nvSpPr>
          <p:cNvPr id="96" name="Google Shape;96;p26"/>
          <p:cNvSpPr txBox="1"/>
          <p:nvPr>
            <p:ph type="title"/>
          </p:nvPr>
        </p:nvSpPr>
        <p:spPr>
          <a:xfrm>
            <a:off x="1446213" y="982132"/>
            <a:ext cx="9296398" cy="2370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Garamond"/>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6"/>
          <p:cNvSpPr txBox="1"/>
          <p:nvPr>
            <p:ph idx="1" type="body"/>
          </p:nvPr>
        </p:nvSpPr>
        <p:spPr>
          <a:xfrm>
            <a:off x="1674812" y="3352800"/>
            <a:ext cx="8839202" cy="584200"/>
          </a:xfrm>
          <a:prstGeom prst="rect">
            <a:avLst/>
          </a:prstGeom>
          <a:noFill/>
          <a:ln>
            <a:noFill/>
          </a:ln>
        </p:spPr>
        <p:txBody>
          <a:bodyPr anchorCtr="0" anchor="ctr" bIns="45700" lIns="91425" spcFirstLastPara="1" rIns="91425" wrap="square" tIns="45700">
            <a:normAutofit/>
          </a:bodyPr>
          <a:lstStyle>
            <a:lvl1pPr indent="-228600" lvl="0" marL="457200" algn="r">
              <a:spcBef>
                <a:spcPts val="400"/>
              </a:spcBef>
              <a:spcAft>
                <a:spcPts val="0"/>
              </a:spcAft>
              <a:buSzPts val="2300"/>
              <a:buFont typeface="Garamond"/>
              <a:buNone/>
              <a:defRPr sz="2000"/>
            </a:lvl1pPr>
            <a:lvl2pPr indent="-228600" lvl="1" marL="914400" algn="l">
              <a:spcBef>
                <a:spcPts val="600"/>
              </a:spcBef>
              <a:spcAft>
                <a:spcPts val="0"/>
              </a:spcAft>
              <a:buSzPts val="2300"/>
              <a:buFont typeface="Garamond"/>
              <a:buNone/>
              <a:defRPr/>
            </a:lvl2pPr>
            <a:lvl3pPr indent="-228600" lvl="2" marL="1371600" algn="l">
              <a:spcBef>
                <a:spcPts val="600"/>
              </a:spcBef>
              <a:spcAft>
                <a:spcPts val="0"/>
              </a:spcAft>
              <a:buSzPts val="2070"/>
              <a:buFont typeface="Garamond"/>
              <a:buNone/>
              <a:defRPr/>
            </a:lvl3pPr>
            <a:lvl4pPr indent="-228600" lvl="3" marL="1828800" algn="l">
              <a:spcBef>
                <a:spcPts val="600"/>
              </a:spcBef>
              <a:spcAft>
                <a:spcPts val="0"/>
              </a:spcAft>
              <a:buSzPts val="1840"/>
              <a:buFont typeface="Garamond"/>
              <a:buNone/>
              <a:defRPr/>
            </a:lvl4pPr>
            <a:lvl5pPr indent="-228600" lvl="4" marL="2286000" algn="l">
              <a:spcBef>
                <a:spcPts val="600"/>
              </a:spcBef>
              <a:spcAft>
                <a:spcPts val="0"/>
              </a:spcAft>
              <a:buSzPts val="1610"/>
              <a:buFont typeface="Garamond"/>
              <a:buNone/>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98" name="Google Shape;98;p26"/>
          <p:cNvSpPr txBox="1"/>
          <p:nvPr>
            <p:ph idx="2" type="body"/>
          </p:nvPr>
        </p:nvSpPr>
        <p:spPr>
          <a:xfrm>
            <a:off x="1295401" y="4343399"/>
            <a:ext cx="9609666"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99" name="Google Shape;99;p2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26"/>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chemeClr val="dk1"/>
                </a:solidFill>
                <a:latin typeface="Garamond"/>
                <a:ea typeface="Garamond"/>
                <a:cs typeface="Garamond"/>
                <a:sym typeface="Garamond"/>
              </a:rPr>
              <a:t>“</a:t>
            </a:r>
            <a:endParaRPr/>
          </a:p>
        </p:txBody>
      </p:sp>
      <p:sp>
        <p:nvSpPr>
          <p:cNvPr id="103" name="Google Shape;103;p26"/>
          <p:cNvSpPr txBox="1"/>
          <p:nvPr/>
        </p:nvSpPr>
        <p:spPr>
          <a:xfrm>
            <a:off x="10600267" y="282787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8000" u="none" cap="none" strike="noStrike">
                <a:solidFill>
                  <a:schemeClr val="dk1"/>
                </a:solidFill>
                <a:latin typeface="Garamond"/>
                <a:ea typeface="Garamond"/>
                <a:cs typeface="Garamond"/>
                <a:sym typeface="Garamond"/>
              </a:rPr>
              <a:t>”</a:t>
            </a:r>
            <a:endParaRPr/>
          </a:p>
        </p:txBody>
      </p:sp>
      <p:cxnSp>
        <p:nvCxnSpPr>
          <p:cNvPr id="104" name="Google Shape;104;p26"/>
          <p:cNvCxnSpPr/>
          <p:nvPr/>
        </p:nvCxnSpPr>
        <p:spPr>
          <a:xfrm>
            <a:off x="1396169" y="4140199"/>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5" name="Shape 105"/>
        <p:cNvGrpSpPr/>
        <p:nvPr/>
      </p:nvGrpSpPr>
      <p:grpSpPr>
        <a:xfrm>
          <a:off x="0" y="0"/>
          <a:ext cx="0" cy="0"/>
          <a:chOff x="0" y="0"/>
          <a:chExt cx="0" cy="0"/>
        </a:xfrm>
      </p:grpSpPr>
      <p:sp>
        <p:nvSpPr>
          <p:cNvPr id="106" name="Google Shape;106;p27"/>
          <p:cNvSpPr txBox="1"/>
          <p:nvPr>
            <p:ph type="title"/>
          </p:nvPr>
        </p:nvSpPr>
        <p:spPr>
          <a:xfrm>
            <a:off x="1295402" y="3308581"/>
            <a:ext cx="9609668"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3200"/>
              <a:buFont typeface="Garamond"/>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27"/>
          <p:cNvSpPr txBox="1"/>
          <p:nvPr>
            <p:ph idx="1" type="body"/>
          </p:nvPr>
        </p:nvSpPr>
        <p:spPr>
          <a:xfrm>
            <a:off x="1295401" y="4777381"/>
            <a:ext cx="9609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08" name="Google Shape;108;p2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1" name="Shape 111"/>
        <p:cNvGrpSpPr/>
        <p:nvPr/>
      </p:nvGrpSpPr>
      <p:grpSpPr>
        <a:xfrm>
          <a:off x="0" y="0"/>
          <a:ext cx="0" cy="0"/>
          <a:chOff x="0" y="0"/>
          <a:chExt cx="0" cy="0"/>
        </a:xfrm>
      </p:grpSpPr>
      <p:sp>
        <p:nvSpPr>
          <p:cNvPr id="112" name="Google Shape;112;p28"/>
          <p:cNvSpPr txBox="1"/>
          <p:nvPr>
            <p:ph type="title"/>
          </p:nvPr>
        </p:nvSpPr>
        <p:spPr>
          <a:xfrm>
            <a:off x="1446213" y="982132"/>
            <a:ext cx="9296398"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Garamond"/>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8"/>
          <p:cNvSpPr txBox="1"/>
          <p:nvPr>
            <p:ph idx="1" type="body"/>
          </p:nvPr>
        </p:nvSpPr>
        <p:spPr>
          <a:xfrm>
            <a:off x="1295401" y="3639312"/>
            <a:ext cx="9609668" cy="88696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4" name="Google Shape;114;p28"/>
          <p:cNvSpPr txBox="1"/>
          <p:nvPr>
            <p:ph idx="2" type="body"/>
          </p:nvPr>
        </p:nvSpPr>
        <p:spPr>
          <a:xfrm>
            <a:off x="1295401" y="4529667"/>
            <a:ext cx="9609668" cy="13462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5" name="Google Shape;115;p2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28"/>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chemeClr val="dk1"/>
                </a:solidFill>
                <a:latin typeface="Garamond"/>
                <a:ea typeface="Garamond"/>
                <a:cs typeface="Garamond"/>
                <a:sym typeface="Garamond"/>
              </a:rPr>
              <a:t>“</a:t>
            </a:r>
            <a:endParaRPr/>
          </a:p>
        </p:txBody>
      </p:sp>
      <p:sp>
        <p:nvSpPr>
          <p:cNvPr id="119" name="Google Shape;119;p28"/>
          <p:cNvSpPr txBox="1"/>
          <p:nvPr/>
        </p:nvSpPr>
        <p:spPr>
          <a:xfrm>
            <a:off x="10600267" y="2599261"/>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8000" u="none" cap="none" strike="noStrike">
                <a:solidFill>
                  <a:schemeClr val="dk1"/>
                </a:solidFill>
                <a:latin typeface="Garamond"/>
                <a:ea typeface="Garamond"/>
                <a:cs typeface="Garamond"/>
                <a:sym typeface="Garamond"/>
              </a:rPr>
              <a:t>”</a:t>
            </a:r>
            <a:endParaRPr/>
          </a:p>
        </p:txBody>
      </p:sp>
      <p:cxnSp>
        <p:nvCxnSpPr>
          <p:cNvPr id="120" name="Google Shape;120;p28"/>
          <p:cNvCxnSpPr/>
          <p:nvPr/>
        </p:nvCxnSpPr>
        <p:spPr>
          <a:xfrm>
            <a:off x="1396169" y="3429000"/>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1" name="Shape 121"/>
        <p:cNvGrpSpPr/>
        <p:nvPr/>
      </p:nvGrpSpPr>
      <p:grpSpPr>
        <a:xfrm>
          <a:off x="0" y="0"/>
          <a:ext cx="0" cy="0"/>
          <a:chOff x="0" y="0"/>
          <a:chExt cx="0" cy="0"/>
        </a:xfrm>
      </p:grpSpPr>
      <p:sp>
        <p:nvSpPr>
          <p:cNvPr id="122" name="Google Shape;122;p29"/>
          <p:cNvSpPr txBox="1"/>
          <p:nvPr>
            <p:ph type="title"/>
          </p:nvPr>
        </p:nvSpPr>
        <p:spPr>
          <a:xfrm>
            <a:off x="1295401" y="982132"/>
            <a:ext cx="9609666"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9"/>
          <p:cNvSpPr txBox="1"/>
          <p:nvPr>
            <p:ph idx="1" type="body"/>
          </p:nvPr>
        </p:nvSpPr>
        <p:spPr>
          <a:xfrm>
            <a:off x="1295401" y="3630168"/>
            <a:ext cx="9609668" cy="84124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3220"/>
              <a:buNone/>
              <a:defRPr sz="2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4" name="Google Shape;124;p29"/>
          <p:cNvSpPr txBox="1"/>
          <p:nvPr>
            <p:ph idx="2" type="body"/>
          </p:nvPr>
        </p:nvSpPr>
        <p:spPr>
          <a:xfrm>
            <a:off x="1295400" y="4470399"/>
            <a:ext cx="9609670" cy="14054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5" name="Google Shape;125;p2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28" name="Google Shape;128;p29"/>
          <p:cNvCxnSpPr/>
          <p:nvPr/>
        </p:nvCxnSpPr>
        <p:spPr>
          <a:xfrm>
            <a:off x="1396169" y="3429000"/>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9" name="Shape 129"/>
        <p:cNvGrpSpPr/>
        <p:nvPr/>
      </p:nvGrpSpPr>
      <p:grpSpPr>
        <a:xfrm>
          <a:off x="0" y="0"/>
          <a:ext cx="0" cy="0"/>
          <a:chOff x="0" y="0"/>
          <a:chExt cx="0" cy="0"/>
        </a:xfrm>
      </p:grpSpPr>
      <p:sp>
        <p:nvSpPr>
          <p:cNvPr id="130" name="Google Shape;130;p3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30"/>
          <p:cNvSpPr txBox="1"/>
          <p:nvPr>
            <p:ph idx="1" type="body"/>
          </p:nvPr>
        </p:nvSpPr>
        <p:spPr>
          <a:xfrm rot="5400000">
            <a:off x="4436531" y="-584198"/>
            <a:ext cx="3318936" cy="9601196"/>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32" name="Google Shape;132;p3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35" name="Google Shape;135;p30"/>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6" name="Shape 136"/>
        <p:cNvGrpSpPr/>
        <p:nvPr/>
      </p:nvGrpSpPr>
      <p:grpSpPr>
        <a:xfrm>
          <a:off x="0" y="0"/>
          <a:ext cx="0" cy="0"/>
          <a:chOff x="0" y="0"/>
          <a:chExt cx="0" cy="0"/>
        </a:xfrm>
      </p:grpSpPr>
      <p:sp>
        <p:nvSpPr>
          <p:cNvPr id="137" name="Google Shape;137;p31"/>
          <p:cNvSpPr txBox="1"/>
          <p:nvPr>
            <p:ph type="title"/>
          </p:nvPr>
        </p:nvSpPr>
        <p:spPr>
          <a:xfrm rot="5400000">
            <a:off x="7497936" y="2483551"/>
            <a:ext cx="4893735" cy="189089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31"/>
          <p:cNvSpPr txBox="1"/>
          <p:nvPr>
            <p:ph idx="1" type="body"/>
          </p:nvPr>
        </p:nvSpPr>
        <p:spPr>
          <a:xfrm rot="5400000">
            <a:off x="2565043" y="-287514"/>
            <a:ext cx="4893734" cy="743302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39" name="Google Shape;139;p3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42" name="Google Shape;142;p31"/>
          <p:cNvCxnSpPr/>
          <p:nvPr/>
        </p:nvCxnSpPr>
        <p:spPr>
          <a:xfrm>
            <a:off x="8863890" y="990600"/>
            <a:ext cx="0" cy="487680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3.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pic>
        <p:nvPicPr>
          <p:cNvPr descr="HD-PanelContent-GrommetsCombined.png" id="10" name="Google Shape;10;p1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1" name="Google Shape;11;p1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262626"/>
              </a:buClr>
              <a:buSzPts val="4400"/>
              <a:buFont typeface="Garamond"/>
              <a:buNone/>
              <a:defRPr b="0" i="0" sz="44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 name="Google Shape;12;p14"/>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403860" lvl="0" marL="457200" marR="0" rtl="0" algn="l">
              <a:spcBef>
                <a:spcPts val="480"/>
              </a:spcBef>
              <a:spcAft>
                <a:spcPts val="0"/>
              </a:spcAft>
              <a:buClr>
                <a:schemeClr val="accent1"/>
              </a:buClr>
              <a:buSzPts val="2760"/>
              <a:buFont typeface="Arial"/>
              <a:buChar char="•"/>
              <a:defRPr b="0" i="0" sz="2400" u="none" cap="none" strike="noStrike">
                <a:solidFill>
                  <a:srgbClr val="262626"/>
                </a:solidFill>
                <a:latin typeface="Garamond"/>
                <a:ea typeface="Garamond"/>
                <a:cs typeface="Garamond"/>
                <a:sym typeface="Garamond"/>
              </a:defRPr>
            </a:lvl1pPr>
            <a:lvl2pPr indent="-374650" lvl="1" marL="914400" marR="0" rtl="0" algn="l">
              <a:spcBef>
                <a:spcPts val="600"/>
              </a:spcBef>
              <a:spcAft>
                <a:spcPts val="0"/>
              </a:spcAft>
              <a:buClr>
                <a:schemeClr val="accent1"/>
              </a:buClr>
              <a:buSzPts val="2300"/>
              <a:buFont typeface="Arial"/>
              <a:buChar char="•"/>
              <a:defRPr b="0" i="0" sz="2000" u="none" cap="none" strike="noStrike">
                <a:solidFill>
                  <a:srgbClr val="262626"/>
                </a:solidFill>
                <a:latin typeface="Garamond"/>
                <a:ea typeface="Garamond"/>
                <a:cs typeface="Garamond"/>
                <a:sym typeface="Garamond"/>
              </a:defRPr>
            </a:lvl2pPr>
            <a:lvl3pPr indent="-360044" lvl="2" marL="1371600" marR="0" rtl="0" algn="l">
              <a:spcBef>
                <a:spcPts val="600"/>
              </a:spcBef>
              <a:spcAft>
                <a:spcPts val="0"/>
              </a:spcAft>
              <a:buClr>
                <a:schemeClr val="accent1"/>
              </a:buClr>
              <a:buSzPts val="2070"/>
              <a:buFont typeface="Arial"/>
              <a:buChar char="•"/>
              <a:defRPr b="0" i="0" sz="1800" u="none" cap="none" strike="noStrike">
                <a:solidFill>
                  <a:srgbClr val="262626"/>
                </a:solidFill>
                <a:latin typeface="Garamond"/>
                <a:ea typeface="Garamond"/>
                <a:cs typeface="Garamond"/>
                <a:sym typeface="Garamond"/>
              </a:defRPr>
            </a:lvl3pPr>
            <a:lvl4pPr indent="-345439" lvl="3" marL="1828800" marR="0" rtl="0" algn="l">
              <a:spcBef>
                <a:spcPts val="600"/>
              </a:spcBef>
              <a:spcAft>
                <a:spcPts val="0"/>
              </a:spcAft>
              <a:buClr>
                <a:schemeClr val="accent1"/>
              </a:buClr>
              <a:buSzPts val="1840"/>
              <a:buFont typeface="Arial"/>
              <a:buChar char="•"/>
              <a:defRPr b="0" i="0" sz="1600" u="none" cap="none" strike="noStrike">
                <a:solidFill>
                  <a:srgbClr val="262626"/>
                </a:solidFill>
                <a:latin typeface="Garamond"/>
                <a:ea typeface="Garamond"/>
                <a:cs typeface="Garamond"/>
                <a:sym typeface="Garamond"/>
              </a:defRPr>
            </a:lvl4pPr>
            <a:lvl5pPr indent="-330835" lvl="4" marL="22860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5pPr>
            <a:lvl6pPr indent="-330835" lvl="5" marL="27432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6pPr>
            <a:lvl7pPr indent="-330835" lvl="6" marL="32004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7pPr>
            <a:lvl8pPr indent="-330834" lvl="7" marL="36576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8pPr>
            <a:lvl9pPr indent="-330834" lvl="8" marL="4114800" marR="0" rtl="0" algn="l">
              <a:spcBef>
                <a:spcPts val="600"/>
              </a:spcBef>
              <a:spcAft>
                <a:spcPts val="60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9pPr>
          </a:lstStyle>
          <a:p/>
        </p:txBody>
      </p:sp>
      <p:sp>
        <p:nvSpPr>
          <p:cNvPr id="13" name="Google Shape;13;p1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4" name="Google Shape;14;p1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5" name="Google Shape;15;p1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Garamond"/>
                <a:ea typeface="Garamond"/>
                <a:cs typeface="Garamond"/>
                <a:sym typeface="Garamond"/>
              </a:defRPr>
            </a:lvl1pPr>
            <a:lvl2pPr indent="0" lvl="1" marL="0" marR="0" rtl="0" algn="r">
              <a:spcBef>
                <a:spcPts val="0"/>
              </a:spcBef>
              <a:buNone/>
              <a:defRPr b="0" i="0" sz="1000" u="none" cap="none" strike="noStrike">
                <a:solidFill>
                  <a:schemeClr val="dk1"/>
                </a:solidFill>
                <a:latin typeface="Garamond"/>
                <a:ea typeface="Garamond"/>
                <a:cs typeface="Garamond"/>
                <a:sym typeface="Garamond"/>
              </a:defRPr>
            </a:lvl2pPr>
            <a:lvl3pPr indent="0" lvl="2" marL="0" marR="0" rtl="0" algn="r">
              <a:spcBef>
                <a:spcPts val="0"/>
              </a:spcBef>
              <a:buNone/>
              <a:defRPr b="0" i="0" sz="1000" u="none" cap="none" strike="noStrike">
                <a:solidFill>
                  <a:schemeClr val="dk1"/>
                </a:solidFill>
                <a:latin typeface="Garamond"/>
                <a:ea typeface="Garamond"/>
                <a:cs typeface="Garamond"/>
                <a:sym typeface="Garamond"/>
              </a:defRPr>
            </a:lvl3pPr>
            <a:lvl4pPr indent="0" lvl="3" marL="0" marR="0" rtl="0" algn="r">
              <a:spcBef>
                <a:spcPts val="0"/>
              </a:spcBef>
              <a:buNone/>
              <a:defRPr b="0" i="0" sz="1000" u="none" cap="none" strike="noStrike">
                <a:solidFill>
                  <a:schemeClr val="dk1"/>
                </a:solidFill>
                <a:latin typeface="Garamond"/>
                <a:ea typeface="Garamond"/>
                <a:cs typeface="Garamond"/>
                <a:sym typeface="Garamond"/>
              </a:defRPr>
            </a:lvl4pPr>
            <a:lvl5pPr indent="0" lvl="4" marL="0" marR="0" rtl="0" algn="r">
              <a:spcBef>
                <a:spcPts val="0"/>
              </a:spcBef>
              <a:buNone/>
              <a:defRPr b="0" i="0" sz="1000" u="none" cap="none" strike="noStrike">
                <a:solidFill>
                  <a:schemeClr val="dk1"/>
                </a:solidFill>
                <a:latin typeface="Garamond"/>
                <a:ea typeface="Garamond"/>
                <a:cs typeface="Garamond"/>
                <a:sym typeface="Garamond"/>
              </a:defRPr>
            </a:lvl5pPr>
            <a:lvl6pPr indent="0" lvl="5" marL="0" marR="0" rtl="0" algn="r">
              <a:spcBef>
                <a:spcPts val="0"/>
              </a:spcBef>
              <a:buNone/>
              <a:defRPr b="0" i="0" sz="1000" u="none" cap="none" strike="noStrike">
                <a:solidFill>
                  <a:schemeClr val="dk1"/>
                </a:solidFill>
                <a:latin typeface="Garamond"/>
                <a:ea typeface="Garamond"/>
                <a:cs typeface="Garamond"/>
                <a:sym typeface="Garamond"/>
              </a:defRPr>
            </a:lvl6pPr>
            <a:lvl7pPr indent="0" lvl="6" marL="0" marR="0" rtl="0" algn="r">
              <a:spcBef>
                <a:spcPts val="0"/>
              </a:spcBef>
              <a:buNone/>
              <a:defRPr b="0" i="0" sz="1000" u="none" cap="none" strike="noStrike">
                <a:solidFill>
                  <a:schemeClr val="dk1"/>
                </a:solidFill>
                <a:latin typeface="Garamond"/>
                <a:ea typeface="Garamond"/>
                <a:cs typeface="Garamond"/>
                <a:sym typeface="Garamond"/>
              </a:defRPr>
            </a:lvl7pPr>
            <a:lvl8pPr indent="0" lvl="7" marL="0" marR="0" rtl="0" algn="r">
              <a:spcBef>
                <a:spcPts val="0"/>
              </a:spcBef>
              <a:buNone/>
              <a:defRPr b="0" i="0" sz="1000" u="none" cap="none" strike="noStrike">
                <a:solidFill>
                  <a:schemeClr val="dk1"/>
                </a:solidFill>
                <a:latin typeface="Garamond"/>
                <a:ea typeface="Garamond"/>
                <a:cs typeface="Garamond"/>
                <a:sym typeface="Garamond"/>
              </a:defRPr>
            </a:lvl8pPr>
            <a:lvl9pPr indent="0" lvl="8" marL="0" marR="0" rtl="0" algn="r">
              <a:spcBef>
                <a:spcPts val="0"/>
              </a:spcBef>
              <a:buNone/>
              <a:defRPr b="0" i="0" sz="100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hyperlink" Target="mailto:murali.k@somaiya.ed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forms.gle/HpmqZBfbeLZzrwtTA" TargetMode="Externa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docs.google.com/spreadsheets/d/1GeCQ52dpgUO-LefTK_cfnZRIgRNBFpDKRL2FL7EVboU/edit?usp=sharing" TargetMode="Externa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5.png"/><Relationship Id="rId7" Type="http://schemas.openxmlformats.org/officeDocument/2006/relationships/image" Target="../media/image5.png"/><Relationship Id="rId8"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1524000" y="740664"/>
            <a:ext cx="9144000" cy="2387600"/>
          </a:xfrm>
          <a:prstGeom prst="rect">
            <a:avLst/>
          </a:prstGeom>
          <a:blipFill rotWithShape="1">
            <a:blip r:embed="rId3">
              <a:alphaModFix/>
            </a:blip>
            <a:tile algn="tl" flip="none" tx="0" sx="100000" ty="0" sy="100000"/>
          </a:blip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4000"/>
              <a:buFont typeface="Garamond"/>
              <a:buNone/>
            </a:pPr>
            <a:r>
              <a:rPr b="1" lang="en-US" sz="4000">
                <a:solidFill>
                  <a:schemeClr val="lt1"/>
                </a:solidFill>
                <a:latin typeface="Garamond"/>
                <a:ea typeface="Garamond"/>
                <a:cs typeface="Garamond"/>
                <a:sym typeface="Garamond"/>
              </a:rPr>
              <a:t>A Study on Personal Finance Habits</a:t>
            </a:r>
            <a:r>
              <a:rPr lang="en-US" sz="4000">
                <a:solidFill>
                  <a:schemeClr val="lt1"/>
                </a:solidFill>
                <a:latin typeface="Garamond"/>
                <a:ea typeface="Garamond"/>
                <a:cs typeface="Garamond"/>
                <a:sym typeface="Garamond"/>
              </a:rPr>
              <a:t> </a:t>
            </a:r>
            <a:br>
              <a:rPr lang="en-US" sz="4000">
                <a:solidFill>
                  <a:schemeClr val="lt1"/>
                </a:solidFill>
                <a:latin typeface="Garamond"/>
                <a:ea typeface="Garamond"/>
                <a:cs typeface="Garamond"/>
                <a:sym typeface="Garamond"/>
              </a:rPr>
            </a:br>
            <a:r>
              <a:rPr lang="en-US" sz="3200">
                <a:solidFill>
                  <a:schemeClr val="lt1"/>
                </a:solidFill>
                <a:latin typeface="Garamond"/>
                <a:ea typeface="Garamond"/>
                <a:cs typeface="Garamond"/>
                <a:sym typeface="Garamond"/>
              </a:rPr>
              <a:t>Spending, Saving, and Investment Behavior</a:t>
            </a:r>
            <a:br>
              <a:rPr lang="en-US" sz="3200">
                <a:solidFill>
                  <a:schemeClr val="lt1"/>
                </a:solidFill>
                <a:latin typeface="Garamond"/>
                <a:ea typeface="Garamond"/>
                <a:cs typeface="Garamond"/>
                <a:sym typeface="Garamond"/>
              </a:rPr>
            </a:br>
            <a:r>
              <a:rPr b="1" lang="en-US" sz="3200">
                <a:solidFill>
                  <a:schemeClr val="lt1"/>
                </a:solidFill>
                <a:latin typeface="Garamond"/>
                <a:ea typeface="Garamond"/>
                <a:cs typeface="Garamond"/>
                <a:sym typeface="Garamond"/>
              </a:rPr>
              <a:t>Domain: </a:t>
            </a:r>
            <a:r>
              <a:rPr lang="en-US" sz="3200">
                <a:solidFill>
                  <a:schemeClr val="lt1"/>
                </a:solidFill>
                <a:latin typeface="Garamond"/>
                <a:ea typeface="Garamond"/>
                <a:cs typeface="Garamond"/>
                <a:sym typeface="Garamond"/>
              </a:rPr>
              <a:t>Finance</a:t>
            </a:r>
            <a:endParaRPr sz="4000"/>
          </a:p>
        </p:txBody>
      </p:sp>
      <p:sp>
        <p:nvSpPr>
          <p:cNvPr id="148" name="Google Shape;148;p1"/>
          <p:cNvSpPr txBox="1"/>
          <p:nvPr>
            <p:ph idx="1" type="subTitle"/>
          </p:nvPr>
        </p:nvSpPr>
        <p:spPr>
          <a:xfrm>
            <a:off x="1524000" y="3602038"/>
            <a:ext cx="9144000" cy="2515298"/>
          </a:xfrm>
          <a:prstGeom prst="rect">
            <a:avLst/>
          </a:prstGeom>
          <a:gradFill>
            <a:gsLst>
              <a:gs pos="0">
                <a:srgbClr val="B8B8B8"/>
              </a:gs>
              <a:gs pos="100000">
                <a:srgbClr val="757575"/>
              </a:gs>
            </a:gsLst>
            <a:lin ang="540000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rtl="0" algn="ctr">
              <a:spcBef>
                <a:spcPts val="0"/>
              </a:spcBef>
              <a:spcAft>
                <a:spcPts val="0"/>
              </a:spcAft>
              <a:buSzPts val="2415"/>
              <a:buNone/>
            </a:pPr>
            <a:r>
              <a:rPr b="1" lang="en-US">
                <a:solidFill>
                  <a:schemeClr val="dk1"/>
                </a:solidFill>
                <a:latin typeface="Garamond"/>
                <a:ea typeface="Garamond"/>
                <a:cs typeface="Garamond"/>
                <a:sym typeface="Garamond"/>
              </a:rPr>
              <a:t>Presented by:</a:t>
            </a:r>
            <a:r>
              <a:rPr lang="en-US">
                <a:solidFill>
                  <a:schemeClr val="dk1"/>
                </a:solidFill>
                <a:latin typeface="Garamond"/>
                <a:ea typeface="Garamond"/>
                <a:cs typeface="Garamond"/>
                <a:sym typeface="Garamond"/>
              </a:rPr>
              <a:t> Murali Krishna M</a:t>
            </a:r>
            <a:endParaRPr/>
          </a:p>
          <a:p>
            <a:pPr indent="0" lvl="0" marL="0" rtl="0" algn="ctr">
              <a:spcBef>
                <a:spcPts val="1020"/>
              </a:spcBef>
              <a:spcAft>
                <a:spcPts val="0"/>
              </a:spcAft>
              <a:buSzPts val="2415"/>
              <a:buNone/>
            </a:pPr>
            <a:r>
              <a:rPr b="1" lang="en-US">
                <a:solidFill>
                  <a:schemeClr val="dk1"/>
                </a:solidFill>
                <a:latin typeface="Garamond"/>
                <a:ea typeface="Garamond"/>
                <a:cs typeface="Garamond"/>
                <a:sym typeface="Garamond"/>
              </a:rPr>
              <a:t>E-mail: </a:t>
            </a:r>
            <a:r>
              <a:rPr lang="en-US" u="sng">
                <a:solidFill>
                  <a:schemeClr val="dk1"/>
                </a:solidFill>
                <a:highlight>
                  <a:srgbClr val="0000FF"/>
                </a:highlight>
                <a:latin typeface="Garamond"/>
                <a:ea typeface="Garamond"/>
                <a:cs typeface="Garamond"/>
                <a:sym typeface="Garamond"/>
                <a:hlinkClick r:id="rId4">
                  <a:extLst>
                    <a:ext uri="{A12FA001-AC4F-418D-AE19-62706E023703}">
                      <ahyp:hlinkClr val="tx"/>
                    </a:ext>
                  </a:extLst>
                </a:hlinkClick>
              </a:rPr>
              <a:t>murali.k@somaiya.edu</a:t>
            </a:r>
            <a:endParaRPr>
              <a:highlight>
                <a:srgbClr val="0000FF"/>
              </a:highlight>
            </a:endParaRPr>
          </a:p>
          <a:p>
            <a:pPr indent="0" lvl="0" marL="0" rtl="0" algn="ctr">
              <a:spcBef>
                <a:spcPts val="1020"/>
              </a:spcBef>
              <a:spcAft>
                <a:spcPts val="0"/>
              </a:spcAft>
              <a:buSzPts val="2415"/>
              <a:buNone/>
            </a:pPr>
            <a:r>
              <a:rPr b="1" lang="en-US">
                <a:solidFill>
                  <a:schemeClr val="dk1"/>
                </a:solidFill>
                <a:latin typeface="Garamond"/>
                <a:ea typeface="Garamond"/>
                <a:cs typeface="Garamond"/>
                <a:sym typeface="Garamond"/>
              </a:rPr>
              <a:t>Seat No: </a:t>
            </a:r>
            <a:r>
              <a:rPr lang="en-US">
                <a:solidFill>
                  <a:schemeClr val="dk1"/>
                </a:solidFill>
                <a:latin typeface="Garamond"/>
                <a:ea typeface="Garamond"/>
                <a:cs typeface="Garamond"/>
                <a:sym typeface="Garamond"/>
              </a:rPr>
              <a:t>31011224039</a:t>
            </a:r>
            <a:endParaRPr/>
          </a:p>
          <a:p>
            <a:pPr indent="0" lvl="0" marL="0" rtl="0" algn="ctr">
              <a:spcBef>
                <a:spcPts val="1020"/>
              </a:spcBef>
              <a:spcAft>
                <a:spcPts val="0"/>
              </a:spcAft>
              <a:buSzPts val="2415"/>
              <a:buNone/>
            </a:pPr>
            <a:r>
              <a:rPr b="1" lang="en-US">
                <a:solidFill>
                  <a:schemeClr val="dk1"/>
                </a:solidFill>
                <a:latin typeface="Garamond"/>
                <a:ea typeface="Garamond"/>
                <a:cs typeface="Garamond"/>
                <a:sym typeface="Garamond"/>
              </a:rPr>
              <a:t>Class: </a:t>
            </a:r>
            <a:r>
              <a:rPr lang="en-US">
                <a:solidFill>
                  <a:schemeClr val="dk1"/>
                </a:solidFill>
                <a:latin typeface="Garamond"/>
                <a:ea typeface="Garamond"/>
                <a:cs typeface="Garamond"/>
                <a:sym typeface="Garamond"/>
              </a:rPr>
              <a:t>SYBCA</a:t>
            </a:r>
            <a:endParaRPr/>
          </a:p>
          <a:p>
            <a:pPr indent="0" lvl="0" marL="0" rtl="0" algn="ctr">
              <a:spcBef>
                <a:spcPts val="1020"/>
              </a:spcBef>
              <a:spcAft>
                <a:spcPts val="0"/>
              </a:spcAft>
              <a:buSzPts val="2415"/>
              <a:buNone/>
            </a:pPr>
            <a:r>
              <a:rPr b="1" lang="en-US">
                <a:solidFill>
                  <a:schemeClr val="dk1"/>
                </a:solidFill>
                <a:latin typeface="Garamond"/>
                <a:ea typeface="Garamond"/>
                <a:cs typeface="Garamond"/>
                <a:sym typeface="Garamond"/>
              </a:rPr>
              <a:t>Subject: </a:t>
            </a:r>
            <a:r>
              <a:rPr lang="en-US">
                <a:solidFill>
                  <a:schemeClr val="dk1"/>
                </a:solidFill>
                <a:latin typeface="Garamond"/>
                <a:ea typeface="Garamond"/>
                <a:cs typeface="Garamond"/>
                <a:sym typeface="Garamond"/>
              </a:rPr>
              <a:t>Elements of Statistics</a:t>
            </a:r>
            <a:endParaRPr/>
          </a:p>
        </p:txBody>
      </p:sp>
      <p:sp>
        <p:nvSpPr>
          <p:cNvPr id="149" name="Google Shape;149;p1"/>
          <p:cNvSpPr/>
          <p:nvPr/>
        </p:nvSpPr>
        <p:spPr>
          <a:xfrm>
            <a:off x="2295143" y="3195987"/>
            <a:ext cx="7452361" cy="338328"/>
          </a:xfrm>
          <a:prstGeom prst="rect">
            <a:avLst/>
          </a:prstGeom>
          <a:solidFill>
            <a:srgbClr val="F7F7F7"/>
          </a:solidFill>
          <a:ln cap="flat" cmpd="sng" w="15875">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
          <p:cNvSpPr txBox="1"/>
          <p:nvPr>
            <p:ph type="title"/>
          </p:nvPr>
        </p:nvSpPr>
        <p:spPr>
          <a:xfrm>
            <a:off x="1339596" y="264541"/>
            <a:ext cx="9512808" cy="13255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US"/>
              <a:t>Table Of Content</a:t>
            </a:r>
            <a:endParaRPr/>
          </a:p>
        </p:txBody>
      </p:sp>
      <p:sp>
        <p:nvSpPr>
          <p:cNvPr id="156" name="Google Shape;156;p2"/>
          <p:cNvSpPr/>
          <p:nvPr/>
        </p:nvSpPr>
        <p:spPr>
          <a:xfrm>
            <a:off x="1033601" y="2185416"/>
            <a:ext cx="10048927" cy="338328"/>
          </a:xfrm>
          <a:prstGeom prst="rect">
            <a:avLst/>
          </a:prstGeom>
          <a:solidFill>
            <a:srgbClr val="F7F7F7"/>
          </a:solidFill>
          <a:ln cap="flat" cmpd="sng" w="15875">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57" name="Google Shape;157;p2"/>
          <p:cNvSpPr txBox="1"/>
          <p:nvPr>
            <p:ph idx="1" type="body"/>
          </p:nvPr>
        </p:nvSpPr>
        <p:spPr>
          <a:xfrm>
            <a:off x="838200" y="1331847"/>
            <a:ext cx="10515600" cy="47306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2300"/>
              <a:buChar char="•"/>
            </a:pPr>
            <a:r>
              <a:rPr b="1" lang="en-US" sz="2000"/>
              <a:t>Introduction</a:t>
            </a:r>
            <a:endParaRPr sz="2000"/>
          </a:p>
          <a:p>
            <a:pPr indent="-285750" lvl="1" marL="742950" rtl="0" algn="l">
              <a:spcBef>
                <a:spcPts val="1000"/>
              </a:spcBef>
              <a:spcAft>
                <a:spcPts val="0"/>
              </a:spcAft>
              <a:buSzPts val="2300"/>
              <a:buChar char="•"/>
            </a:pPr>
            <a:r>
              <a:rPr lang="en-US" sz="2000"/>
              <a:t>1.1 Overview of Personal Finance</a:t>
            </a:r>
            <a:endParaRPr/>
          </a:p>
          <a:p>
            <a:pPr indent="-285750" lvl="1" marL="742950" rtl="0" algn="l">
              <a:spcBef>
                <a:spcPts val="1000"/>
              </a:spcBef>
              <a:spcAft>
                <a:spcPts val="0"/>
              </a:spcAft>
              <a:buSzPts val="2300"/>
              <a:buChar char="•"/>
            </a:pPr>
            <a:r>
              <a:rPr lang="en-US" sz="2000"/>
              <a:t>1.2 Purpose of the Study</a:t>
            </a:r>
            <a:endParaRPr/>
          </a:p>
          <a:p>
            <a:pPr indent="-285750" lvl="1" marL="742950" rtl="0" algn="l">
              <a:spcBef>
                <a:spcPts val="1000"/>
              </a:spcBef>
              <a:spcAft>
                <a:spcPts val="0"/>
              </a:spcAft>
              <a:buSzPts val="2300"/>
              <a:buChar char="•"/>
            </a:pPr>
            <a:r>
              <a:rPr lang="en-US" sz="2000"/>
              <a:t>1.3 Research Questions</a:t>
            </a:r>
            <a:endParaRPr/>
          </a:p>
          <a:p>
            <a:pPr indent="-285750" lvl="0" marL="285750" rtl="0" algn="l">
              <a:spcBef>
                <a:spcPts val="1000"/>
              </a:spcBef>
              <a:spcAft>
                <a:spcPts val="0"/>
              </a:spcAft>
              <a:buSzPts val="2300"/>
              <a:buChar char="•"/>
            </a:pPr>
            <a:r>
              <a:rPr b="1" lang="en-US" sz="2000"/>
              <a:t>Methodology</a:t>
            </a:r>
            <a:endParaRPr sz="2000"/>
          </a:p>
          <a:p>
            <a:pPr indent="-285750" lvl="1" marL="742950" rtl="0" algn="l">
              <a:spcBef>
                <a:spcPts val="1000"/>
              </a:spcBef>
              <a:spcAft>
                <a:spcPts val="0"/>
              </a:spcAft>
              <a:buSzPts val="2300"/>
              <a:buChar char="•"/>
            </a:pPr>
            <a:r>
              <a:rPr lang="en-US" sz="2000"/>
              <a:t>2.1 Questionnaire Design</a:t>
            </a:r>
            <a:endParaRPr/>
          </a:p>
          <a:p>
            <a:pPr indent="-285750" lvl="1" marL="742950" rtl="0" algn="l">
              <a:spcBef>
                <a:spcPts val="1000"/>
              </a:spcBef>
              <a:spcAft>
                <a:spcPts val="0"/>
              </a:spcAft>
              <a:buSzPts val="2300"/>
              <a:buChar char="•"/>
            </a:pPr>
            <a:r>
              <a:rPr lang="en-US" sz="2000"/>
              <a:t>2.2 Data Collection and Sample</a:t>
            </a:r>
            <a:endParaRPr/>
          </a:p>
          <a:p>
            <a:pPr indent="-285750" lvl="0" marL="285750" rtl="0" algn="l">
              <a:spcBef>
                <a:spcPts val="1000"/>
              </a:spcBef>
              <a:spcAft>
                <a:spcPts val="0"/>
              </a:spcAft>
              <a:buSzPts val="2300"/>
              <a:buChar char="•"/>
            </a:pPr>
            <a:r>
              <a:rPr b="1" lang="en-US" sz="2000"/>
              <a:t>Results</a:t>
            </a:r>
            <a:endParaRPr sz="2000"/>
          </a:p>
          <a:p>
            <a:pPr indent="-285750" lvl="1" marL="742950" rtl="0" algn="l">
              <a:spcBef>
                <a:spcPts val="1000"/>
              </a:spcBef>
              <a:spcAft>
                <a:spcPts val="0"/>
              </a:spcAft>
              <a:buSzPts val="2300"/>
              <a:buChar char="•"/>
            </a:pPr>
            <a:r>
              <a:rPr lang="en-US" sz="2000"/>
              <a:t>3.1 Demographic Profile of Respondents</a:t>
            </a:r>
            <a:endParaRPr/>
          </a:p>
          <a:p>
            <a:pPr indent="-285750" lvl="1" marL="742950" rtl="0" algn="l">
              <a:spcBef>
                <a:spcPts val="1000"/>
              </a:spcBef>
              <a:spcAft>
                <a:spcPts val="0"/>
              </a:spcAft>
              <a:buSzPts val="2300"/>
              <a:buChar char="•"/>
            </a:pPr>
            <a:r>
              <a:rPr lang="en-US" sz="2000"/>
              <a:t>3.2 Analysis of Spending and Expense Tracking Habits</a:t>
            </a:r>
            <a:endParaRPr/>
          </a:p>
          <a:p>
            <a:pPr indent="-285750" lvl="1" marL="742950" rtl="0" algn="l">
              <a:spcBef>
                <a:spcPts val="1000"/>
              </a:spcBef>
              <a:spcAft>
                <a:spcPts val="0"/>
              </a:spcAft>
              <a:buSzPts val="2300"/>
              <a:buChar char="•"/>
            </a:pPr>
            <a:r>
              <a:rPr lang="en-US" sz="2000"/>
              <a:t>3.3 Analysis of Saving and Investment Behavior</a:t>
            </a:r>
            <a:endParaRPr/>
          </a:p>
          <a:p>
            <a:pPr indent="-285750" lvl="1" marL="742950" rtl="0" algn="l">
              <a:spcBef>
                <a:spcPts val="1000"/>
              </a:spcBef>
              <a:spcAft>
                <a:spcPts val="0"/>
              </a:spcAft>
              <a:buSzPts val="2300"/>
              <a:buChar char="•"/>
            </a:pPr>
            <a:r>
              <a:rPr lang="en-US" sz="2000"/>
              <a:t>3.4 Attitudes Towards Financial Management</a:t>
            </a:r>
            <a:endParaRPr/>
          </a:p>
          <a:p>
            <a:pPr indent="-285750" lvl="0" marL="285750" rtl="0" algn="l">
              <a:spcBef>
                <a:spcPts val="1000"/>
              </a:spcBef>
              <a:spcAft>
                <a:spcPts val="0"/>
              </a:spcAft>
              <a:buSzPts val="2300"/>
              <a:buChar char="•"/>
            </a:pPr>
            <a:r>
              <a:rPr b="1" lang="en-US" sz="2000"/>
              <a:t>Discussion</a:t>
            </a:r>
            <a:endParaRPr sz="2000"/>
          </a:p>
          <a:p>
            <a:pPr indent="-285750" lvl="1" marL="742950" rtl="0" algn="l">
              <a:spcBef>
                <a:spcPts val="1000"/>
              </a:spcBef>
              <a:spcAft>
                <a:spcPts val="0"/>
              </a:spcAft>
              <a:buSzPts val="2300"/>
              <a:buChar char="•"/>
            </a:pPr>
            <a:r>
              <a:rPr lang="en-US" sz="2000"/>
              <a:t>4.1 The "Aware but Manual" Spender</a:t>
            </a:r>
            <a:endParaRPr/>
          </a:p>
          <a:p>
            <a:pPr indent="-285750" lvl="1" marL="742950" rtl="0" algn="l">
              <a:spcBef>
                <a:spcPts val="1000"/>
              </a:spcBef>
              <a:spcAft>
                <a:spcPts val="0"/>
              </a:spcAft>
              <a:buSzPts val="2300"/>
              <a:buChar char="•"/>
            </a:pPr>
            <a:r>
              <a:rPr lang="en-US" sz="2000"/>
              <a:t>4.2 The Strong Link Between Income and Savings</a:t>
            </a:r>
            <a:endParaRPr/>
          </a:p>
          <a:p>
            <a:pPr indent="-285750" lvl="1" marL="742950" rtl="0" algn="l">
              <a:spcBef>
                <a:spcPts val="1000"/>
              </a:spcBef>
              <a:spcAft>
                <a:spcPts val="0"/>
              </a:spcAft>
              <a:buSzPts val="2300"/>
              <a:buChar char="•"/>
            </a:pPr>
            <a:r>
              <a:rPr lang="en-US" sz="2000"/>
              <a:t>4.3 The Gap Between Saving and Investing</a:t>
            </a:r>
            <a:endParaRPr/>
          </a:p>
          <a:p>
            <a:pPr indent="-285750" lvl="1" marL="742950" rtl="0" algn="l">
              <a:spcBef>
                <a:spcPts val="1000"/>
              </a:spcBef>
              <a:spcAft>
                <a:spcPts val="0"/>
              </a:spcAft>
              <a:buSzPts val="2300"/>
              <a:buChar char="•"/>
            </a:pPr>
            <a:r>
              <a:rPr lang="en-US" sz="2000"/>
              <a:t>4.4 Financial Confidence Levels</a:t>
            </a:r>
            <a:endParaRPr/>
          </a:p>
          <a:p>
            <a:pPr indent="-285750" lvl="0" marL="285750" rtl="0" algn="l">
              <a:spcBef>
                <a:spcPts val="1000"/>
              </a:spcBef>
              <a:spcAft>
                <a:spcPts val="0"/>
              </a:spcAft>
              <a:buSzPts val="2300"/>
              <a:buChar char="•"/>
            </a:pPr>
            <a:r>
              <a:rPr b="1" lang="en-US" sz="2000"/>
              <a:t>Conclusion</a:t>
            </a:r>
            <a:endParaRPr sz="2000"/>
          </a:p>
          <a:p>
            <a:pPr indent="-285750" lvl="1" marL="742950" rtl="0" algn="l">
              <a:spcBef>
                <a:spcPts val="1000"/>
              </a:spcBef>
              <a:spcAft>
                <a:spcPts val="0"/>
              </a:spcAft>
              <a:buSzPts val="2300"/>
              <a:buChar char="•"/>
            </a:pPr>
            <a:r>
              <a:rPr lang="en-US" sz="2000"/>
              <a:t>5.1 Summary of Key Findings</a:t>
            </a:r>
            <a:endParaRPr/>
          </a:p>
          <a:p>
            <a:pPr indent="-285750" lvl="1" marL="742950" rtl="0" algn="l">
              <a:spcBef>
                <a:spcPts val="1000"/>
              </a:spcBef>
              <a:spcAft>
                <a:spcPts val="0"/>
              </a:spcAft>
              <a:buSzPts val="2300"/>
              <a:buChar char="•"/>
            </a:pPr>
            <a:r>
              <a:rPr lang="en-US" sz="2000"/>
              <a:t>5.2 Recommendations</a:t>
            </a:r>
            <a:endParaRPr/>
          </a:p>
          <a:p>
            <a:pPr indent="-285750" lvl="1" marL="742950" rtl="0" algn="l">
              <a:spcBef>
                <a:spcPts val="1000"/>
              </a:spcBef>
              <a:spcAft>
                <a:spcPts val="0"/>
              </a:spcAft>
              <a:buSzPts val="2300"/>
              <a:buChar char="•"/>
            </a:pPr>
            <a:r>
              <a:rPr lang="en-US" sz="2000"/>
              <a:t>5.3 Limitations and Future Research</a:t>
            </a:r>
            <a:endParaRPr/>
          </a:p>
          <a:p>
            <a:pPr indent="-139700" lvl="0" marL="285750" rtl="0" algn="l">
              <a:spcBef>
                <a:spcPts val="1000"/>
              </a:spcBef>
              <a:spcAft>
                <a:spcPts val="0"/>
              </a:spcAft>
              <a:buSzPts val="2300"/>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title"/>
          </p:nvPr>
        </p:nvSpPr>
        <p:spPr>
          <a:xfrm>
            <a:off x="1295402" y="607228"/>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US"/>
              <a:t>1.0 Introduction</a:t>
            </a:r>
            <a:endParaRPr/>
          </a:p>
        </p:txBody>
      </p:sp>
      <p:sp>
        <p:nvSpPr>
          <p:cNvPr id="163" name="Google Shape;163;p3"/>
          <p:cNvSpPr txBox="1"/>
          <p:nvPr>
            <p:ph idx="1" type="body"/>
          </p:nvPr>
        </p:nvSpPr>
        <p:spPr>
          <a:xfrm>
            <a:off x="838200" y="1984248"/>
            <a:ext cx="10515600" cy="4092788"/>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b="1" lang="en-US"/>
              <a:t>1.1 Overview of Personal Finance</a:t>
            </a:r>
            <a:endParaRPr/>
          </a:p>
          <a:p>
            <a:pPr indent="0" lvl="0" marL="0" rtl="0" algn="l">
              <a:spcBef>
                <a:spcPts val="1080"/>
              </a:spcBef>
              <a:spcAft>
                <a:spcPts val="0"/>
              </a:spcAft>
              <a:buSzPts val="2760"/>
              <a:buNone/>
            </a:pPr>
            <a:r>
              <a:rPr lang="en-US"/>
              <a:t>In an increasingly complex economic environment, financial literacy has become a critical life skill. The ability to manage one's personal finances—encompassing budgeting, spending, saving, and investing—is fundamental to achieving long-term financial stability and personal goals. Effective financial management empowers individuals to navigate economic uncertainties, build wealth, and ensure future security. This study delves into the practical application of these concepts by examining the real-world financial habits of a specific demographic.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
          <p:cNvSpPr/>
          <p:nvPr/>
        </p:nvSpPr>
        <p:spPr>
          <a:xfrm>
            <a:off x="1033601" y="2185416"/>
            <a:ext cx="10048927" cy="338328"/>
          </a:xfrm>
          <a:prstGeom prst="rect">
            <a:avLst/>
          </a:prstGeom>
          <a:solidFill>
            <a:srgbClr val="F7F7F7"/>
          </a:solidFill>
          <a:ln cap="flat" cmpd="sng" w="15875">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69" name="Google Shape;169;p4"/>
          <p:cNvSpPr txBox="1"/>
          <p:nvPr>
            <p:ph idx="1" type="body"/>
          </p:nvPr>
        </p:nvSpPr>
        <p:spPr>
          <a:xfrm>
            <a:off x="838200" y="603504"/>
            <a:ext cx="10515600" cy="5820347"/>
          </a:xfrm>
          <a:prstGeom prst="rect">
            <a:avLst/>
          </a:prstGeom>
          <a:noFill/>
          <a:ln>
            <a:noFill/>
          </a:ln>
        </p:spPr>
        <p:txBody>
          <a:bodyPr anchorCtr="0" anchor="t" bIns="45700" lIns="91425" spcFirstLastPara="1" rIns="91425" wrap="square" tIns="45700">
            <a:normAutofit fontScale="92500"/>
          </a:bodyPr>
          <a:lstStyle/>
          <a:p>
            <a:pPr indent="-285750" lvl="0" marL="285750" rtl="0" algn="l">
              <a:spcBef>
                <a:spcPts val="0"/>
              </a:spcBef>
              <a:spcAft>
                <a:spcPts val="0"/>
              </a:spcAft>
              <a:buSzPct val="115000"/>
              <a:buChar char="•"/>
            </a:pPr>
            <a:r>
              <a:rPr b="1" lang="en-US" sz="2400"/>
              <a:t>1.2 Purpose of the Study</a:t>
            </a:r>
            <a:endParaRPr/>
          </a:p>
          <a:p>
            <a:pPr indent="0" lvl="0" marL="0" rtl="0" algn="l">
              <a:spcBef>
                <a:spcPts val="1044"/>
              </a:spcBef>
              <a:spcAft>
                <a:spcPts val="0"/>
              </a:spcAft>
              <a:buSzPct val="115000"/>
              <a:buNone/>
            </a:pPr>
            <a:r>
              <a:rPr lang="en-US" sz="2400"/>
              <a:t>The primary purpose of this research is to analyze the personal spending, saving, and investment behaviors of individuals in the Kalyan, Maharashtra area. By collecting and examining data on their habits and attitudes, this study aims to identify prevailing trends, common challenges, and the key factors that influence financial decision-making.</a:t>
            </a:r>
            <a:endParaRPr/>
          </a:p>
          <a:p>
            <a:pPr indent="-285750" lvl="0" marL="285750" rtl="0" algn="l">
              <a:spcBef>
                <a:spcPts val="1044"/>
              </a:spcBef>
              <a:spcAft>
                <a:spcPts val="0"/>
              </a:spcAft>
              <a:buSzPct val="115000"/>
              <a:buChar char="•"/>
            </a:pPr>
            <a:r>
              <a:rPr b="1" lang="en-US" sz="2400"/>
              <a:t>1.3 Research Questions</a:t>
            </a:r>
            <a:endParaRPr/>
          </a:p>
          <a:p>
            <a:pPr indent="-514350" lvl="0" marL="514350" rtl="0" algn="l">
              <a:spcBef>
                <a:spcPts val="1044"/>
              </a:spcBef>
              <a:spcAft>
                <a:spcPts val="0"/>
              </a:spcAft>
              <a:buSzPct val="115000"/>
              <a:buFont typeface="Garamond"/>
              <a:buAutoNum type="arabicPeriod"/>
            </a:pPr>
            <a:r>
              <a:rPr lang="en-US" sz="2400"/>
              <a:t>This study seeks to answer the following questions:</a:t>
            </a:r>
            <a:endParaRPr/>
          </a:p>
          <a:p>
            <a:pPr indent="-514350" lvl="0" marL="514350" rtl="0" algn="l">
              <a:spcBef>
                <a:spcPts val="1044"/>
              </a:spcBef>
              <a:spcAft>
                <a:spcPts val="0"/>
              </a:spcAft>
              <a:buSzPct val="115000"/>
              <a:buFont typeface="Garamond"/>
              <a:buAutoNum type="arabicPeriod"/>
            </a:pPr>
            <a:r>
              <a:rPr lang="en-US" sz="2400"/>
              <a:t>What are the most common methods used for tracking personal expenses?</a:t>
            </a:r>
            <a:endParaRPr/>
          </a:p>
          <a:p>
            <a:pPr indent="-514350" lvl="0" marL="514350" rtl="0" algn="l">
              <a:spcBef>
                <a:spcPts val="1044"/>
              </a:spcBef>
              <a:spcAft>
                <a:spcPts val="0"/>
              </a:spcAft>
              <a:buSzPct val="115000"/>
              <a:buFont typeface="Garamond"/>
              <a:buAutoNum type="arabicPeriod"/>
            </a:pPr>
            <a:r>
              <a:rPr lang="en-US" sz="2400"/>
              <a:t>What is the prevalence of regular saving habits among respondents?</a:t>
            </a:r>
            <a:endParaRPr/>
          </a:p>
          <a:p>
            <a:pPr indent="-514350" lvl="0" marL="514350" rtl="0" algn="l">
              <a:spcBef>
                <a:spcPts val="1044"/>
              </a:spcBef>
              <a:spcAft>
                <a:spcPts val="0"/>
              </a:spcAft>
              <a:buSzPct val="115000"/>
              <a:buFont typeface="Garamond"/>
              <a:buAutoNum type="arabicPeriod"/>
            </a:pPr>
            <a:r>
              <a:rPr lang="en-US" sz="2400"/>
              <a:t>How do demographic factors, particularly monthly income, influence saving and investment behavior?</a:t>
            </a:r>
            <a:endParaRPr/>
          </a:p>
          <a:p>
            <a:pPr indent="-514350" lvl="0" marL="514350" rtl="0" algn="l">
              <a:spcBef>
                <a:spcPts val="1044"/>
              </a:spcBef>
              <a:spcAft>
                <a:spcPts val="0"/>
              </a:spcAft>
              <a:buSzPct val="115000"/>
              <a:buFont typeface="Garamond"/>
              <a:buAutoNum type="arabicPeriod"/>
            </a:pPr>
            <a:r>
              <a:rPr lang="en-US" sz="2400"/>
              <a:t>What are the primary motivations for saving and the key influences on investment decisions?</a:t>
            </a:r>
            <a:endParaRPr/>
          </a:p>
          <a:p>
            <a:pPr indent="-123634" lvl="0" marL="285750" rtl="0" algn="l">
              <a:spcBef>
                <a:spcPts val="1044"/>
              </a:spcBef>
              <a:spcAft>
                <a:spcPts val="0"/>
              </a:spcAft>
              <a:buSzPct val="115000"/>
              <a:buNone/>
            </a:pPr>
            <a:r>
              <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p:nvPr/>
        </p:nvSpPr>
        <p:spPr>
          <a:xfrm>
            <a:off x="1033601" y="2185416"/>
            <a:ext cx="10048927" cy="338328"/>
          </a:xfrm>
          <a:prstGeom prst="rect">
            <a:avLst/>
          </a:prstGeom>
          <a:solidFill>
            <a:srgbClr val="F7F7F7"/>
          </a:solidFill>
          <a:ln cap="flat" cmpd="sng" w="15875">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75" name="Google Shape;175;p5"/>
          <p:cNvSpPr txBox="1"/>
          <p:nvPr>
            <p:ph type="title"/>
          </p:nvPr>
        </p:nvSpPr>
        <p:spPr>
          <a:xfrm>
            <a:off x="838200" y="302705"/>
            <a:ext cx="10515600" cy="13255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US"/>
              <a:t>2.0 Methodology</a:t>
            </a:r>
            <a:endParaRPr/>
          </a:p>
        </p:txBody>
      </p:sp>
      <p:sp>
        <p:nvSpPr>
          <p:cNvPr id="176" name="Google Shape;176;p5"/>
          <p:cNvSpPr txBox="1"/>
          <p:nvPr>
            <p:ph idx="1" type="body"/>
          </p:nvPr>
        </p:nvSpPr>
        <p:spPr>
          <a:xfrm>
            <a:off x="774193" y="1379792"/>
            <a:ext cx="5760720" cy="5175503"/>
          </a:xfrm>
          <a:prstGeom prst="rect">
            <a:avLst/>
          </a:prstGeom>
          <a:noFill/>
          <a:ln>
            <a:noFill/>
          </a:ln>
        </p:spPr>
        <p:txBody>
          <a:bodyPr anchorCtr="0" anchor="t" bIns="45700" lIns="91425" spcFirstLastPara="1" rIns="91425" wrap="square" tIns="45700">
            <a:normAutofit/>
          </a:bodyPr>
          <a:lstStyle/>
          <a:p>
            <a:pPr indent="-285750" lvl="0" marL="285750" rtl="0" algn="just">
              <a:spcBef>
                <a:spcPts val="0"/>
              </a:spcBef>
              <a:spcAft>
                <a:spcPts val="0"/>
              </a:spcAft>
              <a:buSzPts val="2070"/>
              <a:buChar char="•"/>
            </a:pPr>
            <a:r>
              <a:rPr b="1" lang="en-US" sz="1800"/>
              <a:t>2.1 Questionnaire Design (Google Form Link)</a:t>
            </a:r>
            <a:r>
              <a:rPr b="1" lang="en-US" sz="1800" u="sng">
                <a:solidFill>
                  <a:schemeClr val="hlink"/>
                </a:solidFill>
                <a:highlight>
                  <a:srgbClr val="0000FF"/>
                </a:highlight>
                <a:hlinkClick r:id="rId3"/>
              </a:rPr>
              <a:t>⇏</a:t>
            </a:r>
            <a:endParaRPr b="1" sz="1800">
              <a:highlight>
                <a:srgbClr val="0000FF"/>
              </a:highlight>
            </a:endParaRPr>
          </a:p>
          <a:p>
            <a:pPr indent="0" lvl="0" marL="0" rtl="0" algn="just">
              <a:spcBef>
                <a:spcPts val="960"/>
              </a:spcBef>
              <a:spcAft>
                <a:spcPts val="0"/>
              </a:spcAft>
              <a:buSzPts val="2070"/>
              <a:buNone/>
            </a:pPr>
            <a:r>
              <a:rPr lang="en-US" sz="1800"/>
              <a:t>A structured questionnaire was designed to gather quantitative and qualitative data. The survey was divided into four sections:</a:t>
            </a:r>
            <a:endParaRPr/>
          </a:p>
          <a:p>
            <a:pPr indent="0" lvl="0" marL="0" rtl="0" algn="just">
              <a:spcBef>
                <a:spcPts val="960"/>
              </a:spcBef>
              <a:spcAft>
                <a:spcPts val="0"/>
              </a:spcAft>
              <a:buSzPts val="2070"/>
              <a:buNone/>
            </a:pPr>
            <a:r>
              <a:rPr b="1" lang="en-US" sz="1800"/>
              <a:t>Demographics:</a:t>
            </a:r>
            <a:r>
              <a:rPr lang="en-US" sz="1800"/>
              <a:t> Collected data on age, gender, occupation, and monthly income to enable segmentation and comparative analysis.</a:t>
            </a:r>
            <a:endParaRPr/>
          </a:p>
          <a:p>
            <a:pPr indent="0" lvl="0" marL="0" rtl="0" algn="just">
              <a:spcBef>
                <a:spcPts val="960"/>
              </a:spcBef>
              <a:spcAft>
                <a:spcPts val="0"/>
              </a:spcAft>
              <a:buSzPts val="2070"/>
              <a:buNone/>
            </a:pPr>
            <a:r>
              <a:rPr b="1" lang="en-US" sz="1800"/>
              <a:t>Spending Habits:</a:t>
            </a:r>
            <a:r>
              <a:rPr lang="en-US" sz="1800"/>
              <a:t> Questions focused on expense tracking methods and average monthly spending.</a:t>
            </a:r>
            <a:endParaRPr/>
          </a:p>
          <a:p>
            <a:pPr indent="0" lvl="0" marL="0" rtl="0" algn="just">
              <a:spcBef>
                <a:spcPts val="960"/>
              </a:spcBef>
              <a:spcAft>
                <a:spcPts val="0"/>
              </a:spcAft>
              <a:buSzPts val="2070"/>
              <a:buNone/>
            </a:pPr>
            <a:r>
              <a:rPr b="1" lang="en-US" sz="1800"/>
              <a:t>Saving and Investment Habits:</a:t>
            </a:r>
            <a:r>
              <a:rPr lang="en-US" sz="1800"/>
              <a:t> Assessed the regularity of saving, savings motivations, investment participation, and preferred investment avenues.</a:t>
            </a:r>
            <a:endParaRPr/>
          </a:p>
          <a:p>
            <a:pPr indent="0" lvl="0" marL="0" rtl="0" algn="just">
              <a:spcBef>
                <a:spcPts val="960"/>
              </a:spcBef>
              <a:spcAft>
                <a:spcPts val="0"/>
              </a:spcAft>
              <a:buSzPts val="2070"/>
              <a:buNone/>
            </a:pPr>
            <a:r>
              <a:rPr b="1" lang="en-US" sz="1800"/>
              <a:t>Financial Attitudes:</a:t>
            </a:r>
            <a:r>
              <a:rPr lang="en-US" sz="1800"/>
              <a:t> A 5-point Likert scale was used to measure respondents' level of agreement with statements about their financial confidence and outlook.</a:t>
            </a:r>
            <a:endParaRPr/>
          </a:p>
        </p:txBody>
      </p:sp>
      <p:pic>
        <p:nvPicPr>
          <p:cNvPr id="177" name="Google Shape;177;p5"/>
          <p:cNvPicPr preferRelativeResize="0"/>
          <p:nvPr/>
        </p:nvPicPr>
        <p:blipFill rotWithShape="1">
          <a:blip r:embed="rId4">
            <a:alphaModFix/>
          </a:blip>
          <a:srcRect b="0" l="0" r="0" t="0"/>
          <a:stretch/>
        </p:blipFill>
        <p:spPr>
          <a:xfrm>
            <a:off x="6534913" y="1490472"/>
            <a:ext cx="5023104" cy="39626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6"/>
          <p:cNvSpPr/>
          <p:nvPr/>
        </p:nvSpPr>
        <p:spPr>
          <a:xfrm>
            <a:off x="1033601" y="2185416"/>
            <a:ext cx="10048927" cy="338328"/>
          </a:xfrm>
          <a:prstGeom prst="rect">
            <a:avLst/>
          </a:prstGeom>
          <a:solidFill>
            <a:srgbClr val="F7F7F7"/>
          </a:solidFill>
          <a:ln cap="flat" cmpd="sng" w="15875">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83" name="Google Shape;183;p6"/>
          <p:cNvSpPr txBox="1"/>
          <p:nvPr>
            <p:ph idx="1" type="body"/>
          </p:nvPr>
        </p:nvSpPr>
        <p:spPr>
          <a:xfrm>
            <a:off x="847344" y="1505585"/>
            <a:ext cx="5181600" cy="5768658"/>
          </a:xfrm>
          <a:prstGeom prst="rect">
            <a:avLst/>
          </a:prstGeom>
          <a:noFill/>
          <a:ln>
            <a:noFill/>
          </a:ln>
        </p:spPr>
        <p:txBody>
          <a:bodyPr anchorCtr="0" anchor="t" bIns="45700" lIns="91425" spcFirstLastPara="1" rIns="91425" wrap="square" tIns="45700">
            <a:normAutofit/>
          </a:bodyPr>
          <a:lstStyle/>
          <a:p>
            <a:pPr indent="-285750" lvl="0" marL="285750" rtl="0" algn="just">
              <a:spcBef>
                <a:spcPts val="0"/>
              </a:spcBef>
              <a:spcAft>
                <a:spcPts val="0"/>
              </a:spcAft>
              <a:buSzPts val="2760"/>
              <a:buChar char="•"/>
            </a:pPr>
            <a:r>
              <a:rPr b="1" lang="en-US"/>
              <a:t>2.2 Data Collection and Sample (Responses Link)</a:t>
            </a:r>
            <a:r>
              <a:rPr b="1" lang="en-US" u="sng">
                <a:solidFill>
                  <a:schemeClr val="hlink"/>
                </a:solidFill>
                <a:highlight>
                  <a:srgbClr val="0000FF"/>
                </a:highlight>
                <a:hlinkClick r:id="rId3"/>
              </a:rPr>
              <a:t>⇏</a:t>
            </a:r>
            <a:endParaRPr b="1">
              <a:highlight>
                <a:srgbClr val="0000FF"/>
              </a:highlight>
            </a:endParaRPr>
          </a:p>
          <a:p>
            <a:pPr indent="0" lvl="0" marL="0" rtl="0" algn="just">
              <a:spcBef>
                <a:spcPts val="1080"/>
              </a:spcBef>
              <a:spcAft>
                <a:spcPts val="0"/>
              </a:spcAft>
              <a:buSzPts val="2760"/>
              <a:buNone/>
            </a:pPr>
            <a:r>
              <a:rPr lang="en-US"/>
              <a:t>The data was collected using an online survey created with Google Forms. The survey link was distributed through social media and messaging applications over a two-week period in late September 2025. A total of </a:t>
            </a:r>
            <a:r>
              <a:rPr b="1" lang="en-US"/>
              <a:t>50 valid responses</a:t>
            </a:r>
            <a:r>
              <a:rPr lang="en-US"/>
              <a:t> were collected from a convenience sample of respondents primarily residing in the Kalyan, Maharashtra region.</a:t>
            </a:r>
            <a:endParaRPr/>
          </a:p>
          <a:p>
            <a:pPr indent="-110490" lvl="0" marL="285750" rtl="0" algn="l">
              <a:spcBef>
                <a:spcPts val="1080"/>
              </a:spcBef>
              <a:spcAft>
                <a:spcPts val="0"/>
              </a:spcAft>
              <a:buSzPts val="2760"/>
              <a:buNone/>
            </a:pPr>
            <a:r>
              <a:t/>
            </a:r>
            <a:endParaRPr/>
          </a:p>
        </p:txBody>
      </p:sp>
      <p:pic>
        <p:nvPicPr>
          <p:cNvPr id="184" name="Google Shape;184;p6"/>
          <p:cNvPicPr preferRelativeResize="0"/>
          <p:nvPr/>
        </p:nvPicPr>
        <p:blipFill rotWithShape="1">
          <a:blip r:embed="rId4">
            <a:alphaModFix/>
          </a:blip>
          <a:srcRect b="0" l="0" r="33445" t="0"/>
          <a:stretch/>
        </p:blipFill>
        <p:spPr>
          <a:xfrm>
            <a:off x="6172202" y="976884"/>
            <a:ext cx="5458968" cy="386340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7"/>
          <p:cNvSpPr/>
          <p:nvPr/>
        </p:nvSpPr>
        <p:spPr>
          <a:xfrm>
            <a:off x="1033601" y="2185416"/>
            <a:ext cx="10048927" cy="338328"/>
          </a:xfrm>
          <a:prstGeom prst="rect">
            <a:avLst/>
          </a:prstGeom>
          <a:solidFill>
            <a:srgbClr val="F7F7F7"/>
          </a:solidFill>
          <a:ln cap="flat" cmpd="sng" w="15875">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90" name="Google Shape;190;p7"/>
          <p:cNvSpPr txBox="1"/>
          <p:nvPr>
            <p:ph type="title"/>
          </p:nvPr>
        </p:nvSpPr>
        <p:spPr>
          <a:xfrm>
            <a:off x="748857" y="388381"/>
            <a:ext cx="10515600" cy="13255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US"/>
              <a:t>3.0 Results</a:t>
            </a:r>
            <a:endParaRPr/>
          </a:p>
        </p:txBody>
      </p:sp>
      <p:sp>
        <p:nvSpPr>
          <p:cNvPr id="191" name="Google Shape;191;p7"/>
          <p:cNvSpPr txBox="1"/>
          <p:nvPr>
            <p:ph idx="1" type="body"/>
          </p:nvPr>
        </p:nvSpPr>
        <p:spPr>
          <a:xfrm>
            <a:off x="554736" y="1340993"/>
            <a:ext cx="11085576" cy="1201039"/>
          </a:xfrm>
          <a:prstGeom prst="rect">
            <a:avLst/>
          </a:prstGeom>
          <a:noFill/>
          <a:ln>
            <a:noFill/>
          </a:ln>
        </p:spPr>
        <p:txBody>
          <a:bodyPr anchorCtr="0" anchor="t" bIns="45700" lIns="91425" spcFirstLastPara="1" rIns="91425" wrap="square" tIns="45700">
            <a:normAutofit fontScale="85000" lnSpcReduction="20000"/>
          </a:bodyPr>
          <a:lstStyle/>
          <a:p>
            <a:pPr indent="0" lvl="0" marL="0" rtl="0" algn="just">
              <a:spcBef>
                <a:spcPts val="0"/>
              </a:spcBef>
              <a:spcAft>
                <a:spcPts val="0"/>
              </a:spcAft>
              <a:buSzPct val="115000"/>
              <a:buNone/>
            </a:pPr>
            <a:r>
              <a:rPr b="1" lang="en-US" sz="1600"/>
              <a:t>3.1 Demographic Profile of Respondents</a:t>
            </a:r>
            <a:endParaRPr/>
          </a:p>
          <a:p>
            <a:pPr indent="0" lvl="0" marL="0" rtl="0" algn="just">
              <a:spcBef>
                <a:spcPts val="872"/>
              </a:spcBef>
              <a:spcAft>
                <a:spcPts val="0"/>
              </a:spcAft>
              <a:buSzPct val="115000"/>
              <a:buNone/>
            </a:pPr>
            <a:r>
              <a:rPr lang="en-US" sz="1600"/>
              <a:t>The sample (N=50) was composed of the following demographics:</a:t>
            </a:r>
            <a:endParaRPr/>
          </a:p>
          <a:p>
            <a:pPr indent="0" lvl="0" marL="0" rtl="0" algn="just">
              <a:spcBef>
                <a:spcPts val="872"/>
              </a:spcBef>
              <a:spcAft>
                <a:spcPts val="0"/>
              </a:spcAft>
              <a:buSzPct val="115000"/>
              <a:buNone/>
            </a:pPr>
            <a:r>
              <a:rPr b="1" lang="en-US" sz="1600"/>
              <a:t>Age:</a:t>
            </a:r>
            <a:r>
              <a:rPr lang="en-US" sz="1600"/>
              <a:t> The largest group was 18–24 (27.5%), followed by 25–34 (21.6%).</a:t>
            </a:r>
            <a:endParaRPr/>
          </a:p>
          <a:p>
            <a:pPr indent="0" lvl="0" marL="0" rtl="0" algn="just">
              <a:spcBef>
                <a:spcPts val="872"/>
              </a:spcBef>
              <a:spcAft>
                <a:spcPts val="0"/>
              </a:spcAft>
              <a:buSzPct val="115000"/>
              <a:buNone/>
            </a:pPr>
            <a:r>
              <a:t/>
            </a:r>
            <a:endParaRPr b="1" sz="1600"/>
          </a:p>
          <a:p>
            <a:pPr indent="0" lvl="0" marL="0" rtl="0" algn="just">
              <a:spcBef>
                <a:spcPts val="872"/>
              </a:spcBef>
              <a:spcAft>
                <a:spcPts val="0"/>
              </a:spcAft>
              <a:buSzPct val="115000"/>
              <a:buNone/>
            </a:pPr>
            <a:r>
              <a:rPr b="1" lang="en-US" sz="1600"/>
              <a:t>Occupation:</a:t>
            </a:r>
            <a:r>
              <a:rPr lang="en-US" sz="1600"/>
              <a:t> Student constituted the majority (31.4%), followed by Unemployed (17.6%).</a:t>
            </a:r>
            <a:endParaRPr/>
          </a:p>
          <a:p>
            <a:pPr indent="0" lvl="0" marL="0" rtl="0" algn="just">
              <a:spcBef>
                <a:spcPts val="872"/>
              </a:spcBef>
              <a:spcAft>
                <a:spcPts val="0"/>
              </a:spcAft>
              <a:buSzPct val="115000"/>
              <a:buNone/>
            </a:pPr>
            <a:r>
              <a:rPr b="1" lang="en-US" sz="1600"/>
              <a:t>Monthly Income:</a:t>
            </a:r>
            <a:r>
              <a:rPr lang="en-US" sz="1600"/>
              <a:t> The most common income bracket was Less than ₹10,000 (29.4%).</a:t>
            </a:r>
            <a:endParaRPr/>
          </a:p>
          <a:p>
            <a:pPr indent="-186436" lvl="0" marL="285750" rtl="0" algn="just">
              <a:spcBef>
                <a:spcPts val="872"/>
              </a:spcBef>
              <a:spcAft>
                <a:spcPts val="0"/>
              </a:spcAft>
              <a:buSzPct val="115000"/>
              <a:buNone/>
            </a:pPr>
            <a:r>
              <a:t/>
            </a:r>
            <a:endParaRPr sz="1600"/>
          </a:p>
        </p:txBody>
      </p:sp>
      <p:pic>
        <p:nvPicPr>
          <p:cNvPr id="192" name="Google Shape;192;p7"/>
          <p:cNvPicPr preferRelativeResize="0"/>
          <p:nvPr>
            <p:ph idx="2" type="body"/>
          </p:nvPr>
        </p:nvPicPr>
        <p:blipFill rotWithShape="1">
          <a:blip r:embed="rId3">
            <a:alphaModFix/>
          </a:blip>
          <a:srcRect b="0" l="0" r="0" t="0"/>
          <a:stretch/>
        </p:blipFill>
        <p:spPr>
          <a:xfrm>
            <a:off x="748857" y="2525841"/>
            <a:ext cx="3560064" cy="2201306"/>
          </a:xfrm>
          <a:prstGeom prst="rect">
            <a:avLst/>
          </a:prstGeom>
          <a:noFill/>
          <a:ln>
            <a:noFill/>
          </a:ln>
        </p:spPr>
      </p:pic>
      <p:pic>
        <p:nvPicPr>
          <p:cNvPr id="193" name="Google Shape;193;p7"/>
          <p:cNvPicPr preferRelativeResize="0"/>
          <p:nvPr/>
        </p:nvPicPr>
        <p:blipFill rotWithShape="1">
          <a:blip r:embed="rId4">
            <a:alphaModFix/>
          </a:blip>
          <a:srcRect b="0" l="0" r="0" t="0"/>
          <a:stretch/>
        </p:blipFill>
        <p:spPr>
          <a:xfrm>
            <a:off x="4308921" y="2525841"/>
            <a:ext cx="3560306" cy="2201306"/>
          </a:xfrm>
          <a:prstGeom prst="rect">
            <a:avLst/>
          </a:prstGeom>
          <a:noFill/>
          <a:ln>
            <a:noFill/>
          </a:ln>
        </p:spPr>
      </p:pic>
      <p:pic>
        <p:nvPicPr>
          <p:cNvPr id="194" name="Google Shape;194;p7"/>
          <p:cNvPicPr preferRelativeResize="0"/>
          <p:nvPr/>
        </p:nvPicPr>
        <p:blipFill rotWithShape="1">
          <a:blip r:embed="rId5">
            <a:alphaModFix/>
          </a:blip>
          <a:srcRect b="0" l="0" r="0" t="0"/>
          <a:stretch/>
        </p:blipFill>
        <p:spPr>
          <a:xfrm>
            <a:off x="7868985" y="2525841"/>
            <a:ext cx="3554306" cy="2197596"/>
          </a:xfrm>
          <a:prstGeom prst="rect">
            <a:avLst/>
          </a:prstGeom>
          <a:noFill/>
          <a:ln>
            <a:noFill/>
          </a:ln>
        </p:spPr>
      </p:pic>
      <p:pic>
        <p:nvPicPr>
          <p:cNvPr id="195" name="Google Shape;195;p7"/>
          <p:cNvPicPr preferRelativeResize="0"/>
          <p:nvPr/>
        </p:nvPicPr>
        <p:blipFill rotWithShape="1">
          <a:blip r:embed="rId6">
            <a:alphaModFix/>
          </a:blip>
          <a:srcRect b="0" l="0" r="0" t="0"/>
          <a:stretch/>
        </p:blipFill>
        <p:spPr>
          <a:xfrm>
            <a:off x="885597" y="4723436"/>
            <a:ext cx="3286584" cy="1638529"/>
          </a:xfrm>
          <a:prstGeom prst="rect">
            <a:avLst/>
          </a:prstGeom>
          <a:noFill/>
          <a:ln>
            <a:noFill/>
          </a:ln>
        </p:spPr>
      </p:pic>
      <p:pic>
        <p:nvPicPr>
          <p:cNvPr id="196" name="Google Shape;196;p7"/>
          <p:cNvPicPr preferRelativeResize="0"/>
          <p:nvPr/>
        </p:nvPicPr>
        <p:blipFill rotWithShape="1">
          <a:blip r:embed="rId7">
            <a:alphaModFix/>
          </a:blip>
          <a:srcRect b="8747" l="2905" r="4532" t="7351"/>
          <a:stretch/>
        </p:blipFill>
        <p:spPr>
          <a:xfrm>
            <a:off x="4323016" y="4723436"/>
            <a:ext cx="3562338" cy="1638529"/>
          </a:xfrm>
          <a:prstGeom prst="rect">
            <a:avLst/>
          </a:prstGeom>
          <a:noFill/>
          <a:ln>
            <a:noFill/>
          </a:ln>
        </p:spPr>
      </p:pic>
      <p:pic>
        <p:nvPicPr>
          <p:cNvPr id="197" name="Google Shape;197;p7"/>
          <p:cNvPicPr preferRelativeResize="0"/>
          <p:nvPr/>
        </p:nvPicPr>
        <p:blipFill rotWithShape="1">
          <a:blip r:embed="rId8">
            <a:alphaModFix/>
          </a:blip>
          <a:srcRect b="10802" l="0" r="0" t="0"/>
          <a:stretch/>
        </p:blipFill>
        <p:spPr>
          <a:xfrm>
            <a:off x="7926381" y="4679492"/>
            <a:ext cx="3467584" cy="16824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8"/>
          <p:cNvSpPr/>
          <p:nvPr/>
        </p:nvSpPr>
        <p:spPr>
          <a:xfrm>
            <a:off x="1033601" y="2185416"/>
            <a:ext cx="10048927" cy="338328"/>
          </a:xfrm>
          <a:prstGeom prst="rect">
            <a:avLst/>
          </a:prstGeom>
          <a:solidFill>
            <a:srgbClr val="F7F7F7"/>
          </a:solidFill>
          <a:ln cap="flat" cmpd="sng" w="15875">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203" name="Google Shape;203;p8"/>
          <p:cNvSpPr txBox="1"/>
          <p:nvPr>
            <p:ph idx="1" type="body"/>
          </p:nvPr>
        </p:nvSpPr>
        <p:spPr>
          <a:xfrm>
            <a:off x="649288" y="595293"/>
            <a:ext cx="11167872" cy="1767967"/>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2300"/>
              <a:buNone/>
            </a:pPr>
            <a:r>
              <a:rPr b="1" lang="en-US" sz="2000"/>
              <a:t>3.2 Analysis of Spending and Expense Tracking Habits</a:t>
            </a:r>
            <a:endParaRPr/>
          </a:p>
          <a:p>
            <a:pPr indent="0" lvl="0" marL="0" rtl="0" algn="just">
              <a:spcBef>
                <a:spcPts val="1000"/>
              </a:spcBef>
              <a:spcAft>
                <a:spcPts val="0"/>
              </a:spcAft>
              <a:buSzPts val="2300"/>
              <a:buNone/>
            </a:pPr>
            <a:r>
              <a:rPr lang="en-US" sz="2000"/>
              <a:t>When asked about tracking expenses, the most common method was Using Apps, chosen by 36.53% of respondents. Using  Manually (Notebook/Spreadsheet), was the second most popular method (33.3%), while 31.4% did not track their expenses at all.</a:t>
            </a:r>
            <a:endParaRPr/>
          </a:p>
          <a:p>
            <a:pPr indent="-139700" lvl="0" marL="285750" rtl="0" algn="l">
              <a:spcBef>
                <a:spcPts val="1000"/>
              </a:spcBef>
              <a:spcAft>
                <a:spcPts val="0"/>
              </a:spcAft>
              <a:buSzPts val="2300"/>
              <a:buNone/>
            </a:pPr>
            <a:r>
              <a:t/>
            </a:r>
            <a:endParaRPr sz="2000"/>
          </a:p>
        </p:txBody>
      </p:sp>
      <p:pic>
        <p:nvPicPr>
          <p:cNvPr id="204" name="Google Shape;204;p8"/>
          <p:cNvPicPr preferRelativeResize="0"/>
          <p:nvPr>
            <p:ph idx="2" type="body"/>
          </p:nvPr>
        </p:nvPicPr>
        <p:blipFill rotWithShape="1">
          <a:blip r:embed="rId3">
            <a:alphaModFix/>
          </a:blip>
          <a:srcRect b="0" l="0" r="0" t="0"/>
          <a:stretch/>
        </p:blipFill>
        <p:spPr>
          <a:xfrm>
            <a:off x="649288" y="2363260"/>
            <a:ext cx="5181600" cy="3549117"/>
          </a:xfrm>
          <a:prstGeom prst="rect">
            <a:avLst/>
          </a:prstGeom>
          <a:noFill/>
          <a:ln>
            <a:noFill/>
          </a:ln>
        </p:spPr>
      </p:pic>
      <p:pic>
        <p:nvPicPr>
          <p:cNvPr id="205" name="Google Shape;205;p8"/>
          <p:cNvPicPr preferRelativeResize="0"/>
          <p:nvPr/>
        </p:nvPicPr>
        <p:blipFill rotWithShape="1">
          <a:blip r:embed="rId4">
            <a:alphaModFix/>
          </a:blip>
          <a:srcRect b="0" l="0" r="0" t="0"/>
          <a:stretch/>
        </p:blipFill>
        <p:spPr>
          <a:xfrm>
            <a:off x="5703072" y="3055988"/>
            <a:ext cx="5839640" cy="159089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9"/>
          <p:cNvSpPr/>
          <p:nvPr/>
        </p:nvSpPr>
        <p:spPr>
          <a:xfrm>
            <a:off x="1033601" y="2185416"/>
            <a:ext cx="10048927" cy="338328"/>
          </a:xfrm>
          <a:prstGeom prst="rect">
            <a:avLst/>
          </a:prstGeom>
          <a:solidFill>
            <a:srgbClr val="F7F7F7"/>
          </a:solidFill>
          <a:ln cap="flat" cmpd="sng" w="15875">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211" name="Google Shape;211;p9"/>
          <p:cNvSpPr txBox="1"/>
          <p:nvPr>
            <p:ph idx="1" type="body"/>
          </p:nvPr>
        </p:nvSpPr>
        <p:spPr>
          <a:xfrm>
            <a:off x="1033601" y="676656"/>
            <a:ext cx="10124798" cy="2432304"/>
          </a:xfrm>
          <a:prstGeom prst="rect">
            <a:avLst/>
          </a:prstGeom>
          <a:noFill/>
          <a:ln>
            <a:noFill/>
          </a:ln>
        </p:spPr>
        <p:txBody>
          <a:bodyPr anchorCtr="0" anchor="t" bIns="45700" lIns="91425" spcFirstLastPara="1" rIns="91425" wrap="square" tIns="45700">
            <a:normAutofit fontScale="85000" lnSpcReduction="10000"/>
          </a:bodyPr>
          <a:lstStyle/>
          <a:p>
            <a:pPr indent="0" lvl="0" marL="0" rtl="0" algn="just">
              <a:spcBef>
                <a:spcPts val="0"/>
              </a:spcBef>
              <a:spcAft>
                <a:spcPts val="0"/>
              </a:spcAft>
              <a:buSzPct val="115000"/>
              <a:buNone/>
            </a:pPr>
            <a:r>
              <a:rPr b="1" lang="en-US" sz="2000"/>
              <a:t>3.3 Attitudes Towards Financial Management</a:t>
            </a:r>
            <a:endParaRPr/>
          </a:p>
          <a:p>
            <a:pPr indent="0" lvl="0" marL="0" rtl="0" algn="just">
              <a:spcBef>
                <a:spcPts val="940"/>
              </a:spcBef>
              <a:spcAft>
                <a:spcPts val="0"/>
              </a:spcAft>
              <a:buSzPct val="115000"/>
              <a:buNone/>
            </a:pPr>
            <a:r>
              <a:rPr lang="en-US" sz="2000"/>
              <a:t>A 5-point Likert scale was used to measure financial confidence ("I feel confident about my financial future.").</a:t>
            </a:r>
            <a:endParaRPr/>
          </a:p>
          <a:p>
            <a:pPr indent="0" lvl="0" marL="0" rtl="0" algn="just">
              <a:spcBef>
                <a:spcPts val="940"/>
              </a:spcBef>
              <a:spcAft>
                <a:spcPts val="0"/>
              </a:spcAft>
              <a:buSzPct val="115000"/>
              <a:buNone/>
            </a:pPr>
            <a:r>
              <a:rPr b="1" lang="en-US" sz="2000"/>
              <a:t>Mean:</a:t>
            </a:r>
            <a:r>
              <a:rPr lang="en-US" sz="2000"/>
              <a:t> 3.117647</a:t>
            </a:r>
            <a:endParaRPr/>
          </a:p>
          <a:p>
            <a:pPr indent="0" lvl="0" marL="0" rtl="0" algn="just">
              <a:spcBef>
                <a:spcPts val="940"/>
              </a:spcBef>
              <a:spcAft>
                <a:spcPts val="0"/>
              </a:spcAft>
              <a:buSzPct val="115000"/>
              <a:buNone/>
            </a:pPr>
            <a:r>
              <a:rPr b="1" lang="en-US" sz="2000"/>
              <a:t>Median:</a:t>
            </a:r>
            <a:r>
              <a:rPr lang="en-US" sz="2000"/>
              <a:t> 3.0</a:t>
            </a:r>
            <a:endParaRPr/>
          </a:p>
          <a:p>
            <a:pPr indent="0" lvl="0" marL="0" rtl="0" algn="just">
              <a:spcBef>
                <a:spcPts val="940"/>
              </a:spcBef>
              <a:spcAft>
                <a:spcPts val="0"/>
              </a:spcAft>
              <a:buSzPct val="115000"/>
              <a:buNone/>
            </a:pPr>
            <a:r>
              <a:rPr b="1" lang="en-US" sz="2000"/>
              <a:t>Standard Deviation:</a:t>
            </a:r>
            <a:r>
              <a:rPr lang="en-US" sz="2000"/>
              <a:t> 1.394949</a:t>
            </a:r>
            <a:endParaRPr/>
          </a:p>
          <a:p>
            <a:pPr indent="0" lvl="0" marL="0" rtl="0" algn="just">
              <a:spcBef>
                <a:spcPts val="940"/>
              </a:spcBef>
              <a:spcAft>
                <a:spcPts val="0"/>
              </a:spcAft>
              <a:buSzPct val="115000"/>
              <a:buNone/>
            </a:pPr>
            <a:r>
              <a:rPr lang="en-US" sz="2000"/>
              <a:t>This indicates a generally positive but not overwhelmingly strong level of financial confidence among the respondents.</a:t>
            </a:r>
            <a:endParaRPr/>
          </a:p>
          <a:p>
            <a:pPr indent="-161607" lvl="0" marL="285750" rtl="0" algn="l">
              <a:spcBef>
                <a:spcPts val="940"/>
              </a:spcBef>
              <a:spcAft>
                <a:spcPts val="0"/>
              </a:spcAft>
              <a:buSzPct val="115000"/>
              <a:buNone/>
            </a:pPr>
            <a:r>
              <a:t/>
            </a:r>
            <a:endParaRPr sz="2000"/>
          </a:p>
        </p:txBody>
      </p:sp>
      <p:pic>
        <p:nvPicPr>
          <p:cNvPr id="212" name="Google Shape;212;p9"/>
          <p:cNvPicPr preferRelativeResize="0"/>
          <p:nvPr>
            <p:ph idx="2" type="body"/>
          </p:nvPr>
        </p:nvPicPr>
        <p:blipFill rotWithShape="1">
          <a:blip r:embed="rId3">
            <a:alphaModFix/>
          </a:blip>
          <a:srcRect b="0" l="0" r="0" t="0"/>
          <a:stretch/>
        </p:blipFill>
        <p:spPr>
          <a:xfrm>
            <a:off x="6702933" y="3749041"/>
            <a:ext cx="4718050" cy="1125968"/>
          </a:xfrm>
          <a:prstGeom prst="rect">
            <a:avLst/>
          </a:prstGeom>
          <a:noFill/>
          <a:ln>
            <a:noFill/>
          </a:ln>
        </p:spPr>
      </p:pic>
      <p:pic>
        <p:nvPicPr>
          <p:cNvPr id="213" name="Google Shape;213;p9"/>
          <p:cNvPicPr preferRelativeResize="0"/>
          <p:nvPr/>
        </p:nvPicPr>
        <p:blipFill rotWithShape="1">
          <a:blip r:embed="rId4">
            <a:alphaModFix/>
          </a:blip>
          <a:srcRect b="0" l="0" r="0" t="0"/>
          <a:stretch/>
        </p:blipFill>
        <p:spPr>
          <a:xfrm>
            <a:off x="927631" y="3429000"/>
            <a:ext cx="5775302" cy="231803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0"/>
          <p:cNvSpPr/>
          <p:nvPr/>
        </p:nvSpPr>
        <p:spPr>
          <a:xfrm>
            <a:off x="1071536" y="2150110"/>
            <a:ext cx="10048927" cy="338328"/>
          </a:xfrm>
          <a:prstGeom prst="rect">
            <a:avLst/>
          </a:prstGeom>
          <a:solidFill>
            <a:srgbClr val="F7F7F7"/>
          </a:solidFill>
          <a:ln cap="flat" cmpd="sng" w="15875">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219" name="Google Shape;219;p10"/>
          <p:cNvSpPr txBox="1"/>
          <p:nvPr>
            <p:ph type="title"/>
          </p:nvPr>
        </p:nvSpPr>
        <p:spPr>
          <a:xfrm>
            <a:off x="1295402" y="629475"/>
            <a:ext cx="9601196" cy="130386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262626"/>
              </a:buClr>
              <a:buSzPct val="100000"/>
              <a:buFont typeface="Garamond"/>
              <a:buNone/>
            </a:pPr>
            <a:r>
              <a:rPr lang="en-US"/>
              <a:t>3.4 Analysis of Saving and Investment Behavior</a:t>
            </a:r>
            <a:endParaRPr/>
          </a:p>
        </p:txBody>
      </p:sp>
      <p:sp>
        <p:nvSpPr>
          <p:cNvPr id="220" name="Google Shape;220;p10"/>
          <p:cNvSpPr txBox="1"/>
          <p:nvPr>
            <p:ph idx="1" type="body"/>
          </p:nvPr>
        </p:nvSpPr>
        <p:spPr>
          <a:xfrm>
            <a:off x="615696" y="2416070"/>
            <a:ext cx="4529329" cy="3812455"/>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300"/>
              <a:buChar char="•"/>
            </a:pPr>
            <a:r>
              <a:rPr lang="en-US" sz="2000"/>
              <a:t>However, a strong correlation was observed between income and saving habits. </a:t>
            </a:r>
            <a:r>
              <a:rPr b="1" lang="en-US" sz="2000"/>
              <a:t>95% of respondents earning above ₹50,000 reported a regular saving habit</a:t>
            </a:r>
            <a:r>
              <a:rPr lang="en-US" sz="2000"/>
              <a:t>, compared to only </a:t>
            </a:r>
            <a:r>
              <a:rPr b="1" lang="en-US" sz="2000"/>
              <a:t>40% of those earning less than ₹25,000</a:t>
            </a:r>
            <a:r>
              <a:rPr lang="en-US" sz="2000"/>
              <a:t>.</a:t>
            </a:r>
            <a:endParaRPr/>
          </a:p>
          <a:p>
            <a:pPr indent="-285750" lvl="0" marL="285750" rtl="0" algn="l">
              <a:spcBef>
                <a:spcPts val="1000"/>
              </a:spcBef>
              <a:spcAft>
                <a:spcPts val="0"/>
              </a:spcAft>
              <a:buSzPts val="2300"/>
              <a:buChar char="•"/>
            </a:pPr>
            <a:r>
              <a:rPr lang="en-US" sz="2000"/>
              <a:t>Regarding investment, only </a:t>
            </a:r>
            <a:r>
              <a:rPr b="1" lang="en-US" sz="2000"/>
              <a:t>30%</a:t>
            </a:r>
            <a:r>
              <a:rPr lang="en-US" sz="2000"/>
              <a:t> of the total respondents currently invest their money, while </a:t>
            </a:r>
            <a:r>
              <a:rPr b="1" lang="en-US" sz="2000"/>
              <a:t>45%</a:t>
            </a:r>
            <a:r>
              <a:rPr lang="en-US" sz="2000"/>
              <a:t> are "Planning to start."</a:t>
            </a:r>
            <a:endParaRPr/>
          </a:p>
          <a:p>
            <a:pPr indent="-139700" lvl="0" marL="285750" rtl="0" algn="l">
              <a:spcBef>
                <a:spcPts val="1000"/>
              </a:spcBef>
              <a:spcAft>
                <a:spcPts val="0"/>
              </a:spcAft>
              <a:buSzPts val="2300"/>
              <a:buNone/>
            </a:pPr>
            <a:r>
              <a:t/>
            </a:r>
            <a:endParaRPr sz="2000"/>
          </a:p>
        </p:txBody>
      </p:sp>
      <p:pic>
        <p:nvPicPr>
          <p:cNvPr id="221" name="Google Shape;221;p10"/>
          <p:cNvPicPr preferRelativeResize="0"/>
          <p:nvPr>
            <p:ph idx="2" type="body"/>
          </p:nvPr>
        </p:nvPicPr>
        <p:blipFill rotWithShape="1">
          <a:blip r:embed="rId3">
            <a:alphaModFix/>
          </a:blip>
          <a:srcRect b="0" l="0" r="0" t="0"/>
          <a:stretch/>
        </p:blipFill>
        <p:spPr>
          <a:xfrm>
            <a:off x="6291442" y="2560638"/>
            <a:ext cx="4498615" cy="330993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1"/>
          <p:cNvSpPr/>
          <p:nvPr/>
        </p:nvSpPr>
        <p:spPr>
          <a:xfrm>
            <a:off x="1033601" y="2185416"/>
            <a:ext cx="10048927" cy="338328"/>
          </a:xfrm>
          <a:prstGeom prst="rect">
            <a:avLst/>
          </a:prstGeom>
          <a:solidFill>
            <a:srgbClr val="F7F7F7"/>
          </a:solidFill>
          <a:ln cap="flat" cmpd="sng" w="15875">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227" name="Google Shape;227;p11"/>
          <p:cNvSpPr txBox="1"/>
          <p:nvPr>
            <p:ph type="title"/>
          </p:nvPr>
        </p:nvSpPr>
        <p:spPr>
          <a:xfrm>
            <a:off x="1295402" y="652948"/>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lang="en-US"/>
              <a:t>4.0 Discussion</a:t>
            </a:r>
            <a:endParaRPr/>
          </a:p>
        </p:txBody>
      </p:sp>
      <p:sp>
        <p:nvSpPr>
          <p:cNvPr id="228" name="Google Shape;228;p11"/>
          <p:cNvSpPr txBox="1"/>
          <p:nvPr>
            <p:ph idx="1" type="body"/>
          </p:nvPr>
        </p:nvSpPr>
        <p:spPr>
          <a:xfrm>
            <a:off x="649224" y="1825624"/>
            <a:ext cx="11055096" cy="4822063"/>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840"/>
              <a:buChar char="•"/>
            </a:pPr>
            <a:r>
              <a:rPr b="1" lang="en-US" sz="1600"/>
              <a:t>4.1 The "Aware but Manual" Spender</a:t>
            </a:r>
            <a:endParaRPr/>
          </a:p>
          <a:p>
            <a:pPr indent="0" lvl="0" marL="0" rtl="0" algn="l">
              <a:spcBef>
                <a:spcPts val="600"/>
              </a:spcBef>
              <a:spcAft>
                <a:spcPts val="0"/>
              </a:spcAft>
              <a:buSzPts val="1840"/>
              <a:buNone/>
            </a:pPr>
            <a:r>
              <a:rPr lang="en-US" sz="1600"/>
              <a:t>The results show that a majority of respondents (80%) actively track their expenses, indicating a high level of financial awareness. However, the preference for manual methods over modern apps suggests a potential barrier to entry for digital finance tools, which could be related to complexity, trust, or lack of awareness of their benefits.</a:t>
            </a:r>
            <a:endParaRPr/>
          </a:p>
          <a:p>
            <a:pPr indent="-168910" lvl="0" marL="285750" rtl="0" algn="l">
              <a:spcBef>
                <a:spcPts val="600"/>
              </a:spcBef>
              <a:spcAft>
                <a:spcPts val="0"/>
              </a:spcAft>
              <a:buSzPts val="1840"/>
              <a:buNone/>
            </a:pPr>
            <a:r>
              <a:t/>
            </a:r>
            <a:endParaRPr b="1" sz="1600"/>
          </a:p>
          <a:p>
            <a:pPr indent="-285750" lvl="0" marL="285750" rtl="0" algn="l">
              <a:spcBef>
                <a:spcPts val="600"/>
              </a:spcBef>
              <a:spcAft>
                <a:spcPts val="0"/>
              </a:spcAft>
              <a:buSzPts val="1840"/>
              <a:buChar char="•"/>
            </a:pPr>
            <a:r>
              <a:rPr b="1" lang="en-US" sz="1600"/>
              <a:t>4.2 The Strong Link Between Income and Savings</a:t>
            </a:r>
            <a:endParaRPr/>
          </a:p>
          <a:p>
            <a:pPr indent="0" lvl="0" marL="0" rtl="0" algn="l">
              <a:spcBef>
                <a:spcPts val="600"/>
              </a:spcBef>
              <a:spcAft>
                <a:spcPts val="0"/>
              </a:spcAft>
              <a:buSzPts val="1840"/>
              <a:buNone/>
            </a:pPr>
            <a:r>
              <a:rPr lang="en-US" sz="1600"/>
              <a:t>The data clearly demonstrates that income is a primary determinant of saving behavior. While this is expected, the stark difference between high and low-income brackets highlights the financial pressures faced by those with lower earnings, who may lack the disposable income necessary to build a consistent saving habit.</a:t>
            </a:r>
            <a:endParaRPr/>
          </a:p>
          <a:p>
            <a:pPr indent="-168910" lvl="0" marL="285750" rtl="0" algn="l">
              <a:spcBef>
                <a:spcPts val="600"/>
              </a:spcBef>
              <a:spcAft>
                <a:spcPts val="0"/>
              </a:spcAft>
              <a:buSzPts val="1840"/>
              <a:buNone/>
            </a:pPr>
            <a:r>
              <a:t/>
            </a:r>
            <a:endParaRPr b="1" sz="1600"/>
          </a:p>
          <a:p>
            <a:pPr indent="-285750" lvl="0" marL="285750" rtl="0" algn="l">
              <a:spcBef>
                <a:spcPts val="600"/>
              </a:spcBef>
              <a:spcAft>
                <a:spcPts val="0"/>
              </a:spcAft>
              <a:buSzPts val="1840"/>
              <a:buChar char="•"/>
            </a:pPr>
            <a:r>
              <a:rPr b="1" lang="en-US" sz="1600"/>
              <a:t>4.3 The Gap Between Saving and Investing</a:t>
            </a:r>
            <a:endParaRPr/>
          </a:p>
          <a:p>
            <a:pPr indent="0" lvl="0" marL="0" rtl="0" algn="l">
              <a:spcBef>
                <a:spcPts val="600"/>
              </a:spcBef>
              <a:spcAft>
                <a:spcPts val="0"/>
              </a:spcAft>
              <a:buSzPts val="1840"/>
              <a:buNone/>
            </a:pPr>
            <a:r>
              <a:rPr lang="en-US" sz="1600"/>
              <a:t>A key insight is the significant gap between the number of people who save (70% do so regularly) and the number who invest (only 30%). This suggests that while respondents understand the importance of setting money aside, they may be hesitant to take the next step of investing. This hesitation could stem from a lack of knowledge, fear of risk, or insufficient capital.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2"/>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62626"/>
              </a:buClr>
              <a:buSzPts val="4400"/>
              <a:buFont typeface="Garamond"/>
              <a:buNone/>
            </a:pPr>
            <a:r>
              <a:rPr b="1" lang="en-US"/>
              <a:t>5.0 Conclusion</a:t>
            </a:r>
            <a:endParaRPr/>
          </a:p>
        </p:txBody>
      </p:sp>
      <p:sp>
        <p:nvSpPr>
          <p:cNvPr id="234" name="Google Shape;234;p12"/>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fontScale="92500" lnSpcReduction="10000"/>
          </a:bodyPr>
          <a:lstStyle/>
          <a:p>
            <a:pPr indent="-285750" lvl="0" marL="285750" rtl="0" algn="just">
              <a:spcBef>
                <a:spcPts val="0"/>
              </a:spcBef>
              <a:spcAft>
                <a:spcPts val="0"/>
              </a:spcAft>
              <a:buSzPct val="115000"/>
              <a:buChar char="•"/>
            </a:pPr>
            <a:r>
              <a:rPr b="1" lang="en-US" sz="2400"/>
              <a:t>5.1 Summary of Key Findings</a:t>
            </a:r>
            <a:endParaRPr/>
          </a:p>
          <a:p>
            <a:pPr indent="0" lvl="0" marL="0" rtl="0" algn="just">
              <a:spcBef>
                <a:spcPts val="1044"/>
              </a:spcBef>
              <a:spcAft>
                <a:spcPts val="0"/>
              </a:spcAft>
              <a:buSzPct val="115000"/>
              <a:buNone/>
            </a:pPr>
            <a:r>
              <a:rPr lang="en-US" sz="2400"/>
              <a:t>Most respondents are financially aware and track expenses, but many still rely on manual methods.</a:t>
            </a:r>
            <a:endParaRPr/>
          </a:p>
          <a:p>
            <a:pPr indent="0" lvl="0" marL="0" rtl="0" algn="just">
              <a:spcBef>
                <a:spcPts val="1044"/>
              </a:spcBef>
              <a:spcAft>
                <a:spcPts val="0"/>
              </a:spcAft>
              <a:buSzPct val="115000"/>
              <a:buNone/>
            </a:pPr>
            <a:r>
              <a:rPr lang="en-US" sz="2400"/>
              <a:t>Saving is a common habit, but it is strongly dependent on income level.</a:t>
            </a:r>
            <a:endParaRPr/>
          </a:p>
          <a:p>
            <a:pPr indent="0" lvl="0" marL="0" rtl="0" algn="just">
              <a:spcBef>
                <a:spcPts val="1044"/>
              </a:spcBef>
              <a:spcAft>
                <a:spcPts val="0"/>
              </a:spcAft>
              <a:buSzPct val="115000"/>
              <a:buNone/>
            </a:pPr>
            <a:r>
              <a:rPr lang="en-US" sz="2400"/>
              <a:t>A significant "saver-investor gap" exists, where many savers are not yet investing their money.</a:t>
            </a:r>
            <a:endParaRPr/>
          </a:p>
          <a:p>
            <a:pPr indent="0" lvl="0" marL="0" rtl="0" algn="just">
              <a:spcBef>
                <a:spcPts val="1044"/>
              </a:spcBef>
              <a:spcAft>
                <a:spcPts val="0"/>
              </a:spcAft>
              <a:buSzPct val="115000"/>
              <a:buNone/>
            </a:pPr>
            <a:r>
              <a:rPr lang="en-US" sz="2400"/>
              <a:t>Financial confidence is moderately high but not universal, reflecting some uncertainty about the future.</a:t>
            </a:r>
            <a:endParaRPr/>
          </a:p>
          <a:p>
            <a:pPr indent="-123634" lvl="0" marL="285750" rtl="0" algn="just">
              <a:spcBef>
                <a:spcPts val="1044"/>
              </a:spcBef>
              <a:spcAft>
                <a:spcPts val="0"/>
              </a:spcAft>
              <a:buSzPct val="115000"/>
              <a:buNone/>
            </a:pPr>
            <a:r>
              <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3"/>
          <p:cNvSpPr/>
          <p:nvPr/>
        </p:nvSpPr>
        <p:spPr>
          <a:xfrm>
            <a:off x="1033601" y="2185416"/>
            <a:ext cx="10048927" cy="338328"/>
          </a:xfrm>
          <a:prstGeom prst="rect">
            <a:avLst/>
          </a:prstGeom>
          <a:solidFill>
            <a:srgbClr val="F7F7F7"/>
          </a:solidFill>
          <a:ln cap="flat" cmpd="sng" w="15875">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240" name="Google Shape;240;p13"/>
          <p:cNvSpPr txBox="1"/>
          <p:nvPr>
            <p:ph type="title"/>
          </p:nvPr>
        </p:nvSpPr>
        <p:spPr>
          <a:xfrm>
            <a:off x="838200" y="969264"/>
            <a:ext cx="10515600" cy="53218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62626"/>
              </a:buClr>
              <a:buSzPts val="2000"/>
              <a:buFont typeface="Garamond"/>
              <a:buNone/>
            </a:pPr>
            <a:r>
              <a:rPr b="1" lang="en-US" sz="2000"/>
              <a:t>5.2 Recommendations</a:t>
            </a:r>
            <a:br>
              <a:rPr b="1" lang="en-US" sz="2000"/>
            </a:br>
            <a:r>
              <a:rPr b="1" lang="en-US" sz="2000"/>
              <a:t>For FinTech Companies:</a:t>
            </a:r>
            <a:r>
              <a:rPr lang="en-US" sz="2000"/>
              <a:t> There is a clear market for user-friendly financial apps that can simplify the transition from manual tracking to digital budgeting.</a:t>
            </a:r>
            <a:br>
              <a:rPr lang="en-US" sz="2000"/>
            </a:br>
            <a:r>
              <a:rPr b="1" lang="en-US" sz="2000"/>
              <a:t>For Financial Educators:</a:t>
            </a:r>
            <a:r>
              <a:rPr lang="en-US" sz="2000"/>
              <a:t> Workshops and content should focus on bridging the gap between saving and investing, explaining the basics of risk and long-term growth in simple terms.</a:t>
            </a:r>
            <a:br>
              <a:rPr lang="en-US" sz="2000"/>
            </a:br>
            <a:r>
              <a:rPr b="1" lang="en-US" sz="2000"/>
              <a:t>For Individuals:</a:t>
            </a:r>
            <a:r>
              <a:rPr lang="en-US" sz="2000"/>
              <a:t> Those earning lower incomes could benefit from learning about "micro-saving" and "micro-investing" strategies to begin building financial habits even with limited funds.</a:t>
            </a:r>
            <a:br>
              <a:rPr lang="en-US" sz="2000"/>
            </a:br>
            <a:br>
              <a:rPr lang="en-US" sz="2000"/>
            </a:br>
            <a:br>
              <a:rPr lang="en-US" sz="2000"/>
            </a:br>
            <a:r>
              <a:rPr b="1" lang="en-US" sz="2000"/>
              <a:t>5.3 Limitations and Future Research</a:t>
            </a:r>
            <a:br>
              <a:rPr b="1" lang="en-US" sz="2000"/>
            </a:br>
            <a:r>
              <a:rPr lang="en-US" sz="2000"/>
              <a:t>This study was conducted with a small convenience sample in a specific geographic area, which limits the generalizability of the findings. Future research should aim for a larger, more diverse sample and could employ a longitudinal design to track how financial habits evolve over time.</a:t>
            </a:r>
            <a:br>
              <a:rPr lang="en-US" sz="2000"/>
            </a:b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Organic">
  <a:themeElements>
    <a:clrScheme name="Organic">
      <a:dk1>
        <a:srgbClr val="000000"/>
      </a:dk1>
      <a:lt1>
        <a:srgbClr val="FFFFFF"/>
      </a:lt1>
      <a:dk2>
        <a:srgbClr val="212121"/>
      </a:dk2>
      <a:lt2>
        <a:srgbClr val="DADADA"/>
      </a:lt2>
      <a:accent1>
        <a:srgbClr val="AB946B"/>
      </a:accent1>
      <a:accent2>
        <a:srgbClr val="C04F32"/>
      </a:accent2>
      <a:accent3>
        <a:srgbClr val="DD8C3C"/>
      </a:accent3>
      <a:accent4>
        <a:srgbClr val="8E684C"/>
      </a:accent4>
      <a:accent5>
        <a:srgbClr val="CBAF62"/>
      </a:accent5>
      <a:accent6>
        <a:srgbClr val="803348"/>
      </a:accent6>
      <a:hlink>
        <a:srgbClr val="86724D"/>
      </a:hlink>
      <a:folHlink>
        <a:srgbClr val="B99E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2025-10-02T12:41:34Z</dcterms:created>
  <dc:creator>Murali Krishna M</dc:creator>
</cp:coreProperties>
</file>